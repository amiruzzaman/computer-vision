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9144000" cy="6858000" type="screen4x3"/>
  <p:notesSz cx="6794500" cy="9906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A5F9B-9E25-4978-85F3-D39CE1BA83B9}" v="2" dt="2025-12-25T13:54:44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napToGrid="0">
      <p:cViewPr varScale="1">
        <p:scale>
          <a:sx n="67" d="100"/>
          <a:sy n="67" d="100"/>
        </p:scale>
        <p:origin x="6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38" d="100"/>
          <a:sy n="38" d="100"/>
        </p:scale>
        <p:origin x="-1596" y="-114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uzzaman, Md" userId="f9769dfd-1555-48d9-816d-b0ab69b79e77" providerId="ADAL" clId="{E0B613AC-2B51-487F-A098-45BE5ED15950}"/>
    <pc:docChg chg="modSld">
      <pc:chgData name="Amiruzzaman, Md" userId="f9769dfd-1555-48d9-816d-b0ab69b79e77" providerId="ADAL" clId="{E0B613AC-2B51-487F-A098-45BE5ED15950}" dt="2025-12-25T13:54:57.881" v="11" actId="1076"/>
      <pc:docMkLst>
        <pc:docMk/>
      </pc:docMkLst>
      <pc:sldChg chg="addSp modSp mod">
        <pc:chgData name="Amiruzzaman, Md" userId="f9769dfd-1555-48d9-816d-b0ab69b79e77" providerId="ADAL" clId="{E0B613AC-2B51-487F-A098-45BE5ED15950}" dt="2025-12-25T13:54:57.881" v="11" actId="1076"/>
        <pc:sldMkLst>
          <pc:docMk/>
          <pc:sldMk cId="0" sldId="256"/>
        </pc:sldMkLst>
        <pc:spChg chg="add mod">
          <ac:chgData name="Amiruzzaman, Md" userId="f9769dfd-1555-48d9-816d-b0ab69b79e77" providerId="ADAL" clId="{E0B613AC-2B51-487F-A098-45BE5ED15950}" dt="2025-12-25T13:54:57.881" v="11" actId="1076"/>
          <ac:spMkLst>
            <pc:docMk/>
            <pc:sldMk cId="0" sldId="256"/>
            <ac:spMk id="2" creationId="{207CE70A-3AAC-1221-D44D-13E09A135E9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1026">
            <a:extLst>
              <a:ext uri="{FF2B5EF4-FFF2-40B4-BE49-F238E27FC236}">
                <a16:creationId xmlns:a16="http://schemas.microsoft.com/office/drawing/2014/main" id="{CB809679-D34D-A966-2D02-79701BBF67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5651" name="Rectangle 1027">
            <a:extLst>
              <a:ext uri="{FF2B5EF4-FFF2-40B4-BE49-F238E27FC236}">
                <a16:creationId xmlns:a16="http://schemas.microsoft.com/office/drawing/2014/main" id="{B8F3911F-3731-65F0-65D0-77BBB467A64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5652" name="Rectangle 1028">
            <a:extLst>
              <a:ext uri="{FF2B5EF4-FFF2-40B4-BE49-F238E27FC236}">
                <a16:creationId xmlns:a16="http://schemas.microsoft.com/office/drawing/2014/main" id="{BDF67207-C07F-B93C-9BD7-786D9DBA03E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5653" name="Rectangle 1029">
            <a:extLst>
              <a:ext uri="{FF2B5EF4-FFF2-40B4-BE49-F238E27FC236}">
                <a16:creationId xmlns:a16="http://schemas.microsoft.com/office/drawing/2014/main" id="{B07DA000-16AD-36F5-8117-D53A5A2C503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1070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F23E7A-B1F9-48C3-83E0-117EFD87C6A3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9828E92-7E75-F7BA-A9B4-BC1D98913A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08161CF-D0A1-1939-B48B-5344B8A8AB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97EC7DAD-0FE5-C79E-8143-B4CBDA93484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E071529-3C4C-08DC-34F4-21B84F7D017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05350"/>
            <a:ext cx="49815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EBCB076-5180-A458-77BE-49CF9D44B2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B96AA1E6-6F66-70F9-8511-372D61976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1070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8DE5B8-72BB-4230-AE0A-8DC499589626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B9FB685-5D35-7B38-570F-B564539DDB2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52016FE-EF0A-96D8-FC0D-01EE8EA81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418EB51-3D8C-04D1-8881-3C7160BC46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2B0217CC-75C7-CA86-F737-5BB637C04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F27D572B-8BFC-6D50-5779-C73FC1DF65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A9BE756-9E1A-E859-6C36-B799D6359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0B2A7AFA-B80C-11C6-32C1-ADA39C5767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DC01E060-71AE-7CFE-8B66-F9FBEB6FE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69E6B2A-2B93-1D47-3938-DF9502A8AF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4005EE1-9195-A032-E57C-DEFFC62D1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CBB723A-B4E1-76F8-AD04-D71F92EDB7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95BA64DA-F366-0449-456A-645BB5DA1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E742619C-46C9-D7FE-83E4-9B57E087EC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D4D01F1-BF39-37BB-F905-056A492D9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7F87EE6-50FC-7A13-E4AB-FEDEBC95B0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0848D92E-7397-E3FA-D3F8-29CBCD9A6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4785487-B40A-227C-4AA0-57245C23DD9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CA2A5B7-61D4-DD1D-DDF5-E34049EC1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C4CF781D-794C-21F8-7471-AF90A67067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F37B98B2-2B51-ED3C-D72E-EE7BD4547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E483993C-2C92-D1D6-60D2-D5CB770F4F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B0F064E-5232-75ED-9C25-0621FD142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CFECC667-E764-5481-7C03-2E95BFE7D49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35B690F-0B7B-50DA-493F-9DA6E008A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583210F-9043-D838-A56C-C56BBDE93A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4F46E6E1-1158-7049-80F7-2BEE4ACD7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57A6FD33-1163-2D88-95C4-BB61F4A869B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ED7FDC02-3229-3961-986A-3A49D5FD3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FA2666C-B13E-C0B1-8DA6-807DF360C1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0D1D4703-22A2-5F0B-F99C-558D3DE47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547DEF8F-A5FD-E18D-EEBB-9D49B8DF8D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8D30AA1-E531-BE83-7C97-1C820C317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4EAA113D-16C7-36D0-E84D-CA65EEA5309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A41FCFA-A6AB-E6E4-571A-B7FFBA745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7003EBA2-C03D-F98D-2787-271C5F5F3E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D7AB32D7-8C1A-ABB9-20C0-AA0D1A0C3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FA198886-7F2E-0C5E-16C0-2A6BE1DE94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846E0A2-2FA5-4EC8-1460-EB6DE8E3C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612004F9-907A-CC75-BB82-0709EF9BC6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DACE50D-2FBA-C705-DEA3-B6658B41D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B86B682-15B1-25BF-F71C-87B5B9FC25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8E85E236-6DD4-63AE-B66B-0ED7EF255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8528A848-17DA-9E62-1DBA-8B0F98D016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6DA15CF6-531C-9206-3D7E-D7C2380EA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A04DABC9-07D4-33E9-61D8-4ECE1CAC66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92AD45CA-B784-A062-87DC-97C7F39FD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77117AAD-A49E-6879-C0AE-DCA6DF6844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4D8CB3E0-62A8-1F1E-C4FB-3B260D5F6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4CCC3119-F573-C4C9-7942-2D741F0A445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600E540-F6C1-8979-0C62-CECE72341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692D418-071C-723D-B99E-07D898B7E1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AC7573FE-2EF6-C975-2308-B67827945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B5828A31-6B0D-2EAD-6017-E691618B77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12EE25AE-77D2-2649-645B-ABDDDF072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2486DD6A-6BC0-386A-7E7B-E0141E5DC4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7EBEBCC-F461-3921-210D-3BE445A70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ED9B20D-5679-CDFE-FA33-92F3F79FCC8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3DD3EBF-7BE6-55D7-150B-EE28659A7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E64DDD3A-A592-EA97-9907-C0587FF5B79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40958768-D3B5-27D8-7411-F7BC920CB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145DB7F6-BE0B-EAFE-390E-C17F440E40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5A7F4BAF-F923-5F94-EBBA-E7CC3B444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5E011B13-15E0-94BB-8472-F979AF92C3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C06B65A-3A48-ED19-0387-644CA7993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22AB2F9-F917-0FFA-C9A1-DA5827F317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3A4F5658-CE45-52A9-9BE1-123306591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CB55C561-3D45-74EE-C9E2-6E1AF0BEFF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C92E42C0-9177-DE9A-6E7D-D2A092B2A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9997B45-F3AD-9E6E-B3F3-353849A0F2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50423A38-CF9F-3F4C-A7A9-FB321A34F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F50FEAE4-5C47-AF06-6B43-E38EB5C7D4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B3ABBA2-6BF0-E2B3-23A6-1579D9C76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811404B5-D234-1A68-06BD-1757087263B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00F3AFA-B587-5CED-3DE4-4DE86B4D3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28E54B7E-BADE-8637-A8E9-C36A3AB3BC9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F27E3AB-F1D0-0133-902A-0026947F3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20D34453-A598-E8E7-F287-F8FE76996E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692D370-CA1E-B5CB-71CC-B05A05064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ED7485E2-52E4-993E-78A9-871E9C13E5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A8CEEC62-7412-8B79-0F63-FC952263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F257A6F0-0731-AC40-04B2-70E1E4892E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637CCB85-AC1F-C8D6-C06E-AA6C64D60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D045C98D-E2F9-934B-5EE2-BC7137F370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E21820A8-F89D-96CD-B0E4-B99E8CB6C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8222FAB6-7EB9-C0F3-E79D-9C49042CF8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F3EEF1D3-5B3F-344B-C04E-85BE43B59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AA9B3F76-6A09-6192-BF79-8F16230A24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A2392A6-245C-B1A4-71C1-963C8478B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61F4ADB1-823F-D35D-1190-8D419B400F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E9684D4D-A788-F684-104C-0D0C40CD0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033F2F2E-4989-4DA4-8DCB-6DB2EC053E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1B559212-6595-83E6-F247-3E21608D1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3E1F90CC-1F24-3272-182F-2F4EEEE23C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6CF17B90-6B54-715D-0B21-2E8FFE819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202BB60-4CC8-75AE-2D9B-DCF0675071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77B83BFF-6BFF-713F-6F8F-3AB784FCA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CF5A819C-8D6E-41DC-9CEF-3A3A78B767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2F25D42F-B0F7-7C34-078F-084E85D14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0F072-8AF9-1ADF-CEEC-5A997913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7AD7A-3425-F435-8A80-1C6ED61A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6F1A-487B-F5A9-EE62-53622883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37D6E4-ADEC-40D4-8339-64D6296F05D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6555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2D4F-A5AC-0BC6-8C61-3C467D7B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EA8F3-90BA-CB3A-AE56-8AC1691A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45B-7EEA-4ABC-A95E-DE5563C3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357E8-EAF2-4CB4-9A4E-A614A40D064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4948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69E5-956E-A34F-1E01-AEB3ADDA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F06D7-AB00-4974-F971-52B00F46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A856C-D51C-5CAA-33D8-4B90547C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613EFB-AE14-492F-B654-76E39A1AFFD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33744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929985-1076-74F3-1845-DEEBA536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F9D85C0-0EBA-ED09-79F4-3CAFA260F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8CD17DE-34DD-87FD-393E-2E33873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4D98F-3756-433E-BAC3-363558E1B63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702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9F2FCA-5DBB-66F1-81EF-45051B06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B2B2DD9-0471-048A-F014-8A96218D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E90A07-847B-EA8A-16FF-4B2FC349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F3BD60-7B7E-443B-9C60-2596303CDA9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618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39D1E9-198E-F236-BE15-020C02AF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F2C0C7C-1910-4591-BDC3-B0EE8D04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6FBD66-DD3F-4C18-BE93-04E1E221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32C1C-4D57-441C-9D65-7944DA25E3E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408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5C00F6-001C-9395-B758-48545E3F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27D18D-2259-3F23-D181-4F2BCEEA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D23DB1-2A14-CDD6-863D-F8EF4AD8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2A096-1BB3-446E-91A1-7AF51DA2820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2878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345DB2A-5D06-E34E-BB53-21AF60D2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AB7684-8DA3-BCA3-9B9F-3C979DCB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C1CA06-B68C-1FD0-4D9A-3E3416B9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9EF0D-542C-4E8E-B7A3-9D541936CBD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6134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11BCC10-3F0E-5596-9A70-26B9809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D2B6C2-9D25-4F6F-2B3C-CCF89C0F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644A4B-5A29-AE60-7829-9DE98153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E6FA1-BAD5-44D6-8944-1DEF8ADCF84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3104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2C784-3AC5-56FA-FBB1-AC8ADDED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FFF5B-CB3E-9825-AF4D-3C72CE03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5D2BB-DEA0-4032-F0D2-8CD5D8C7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319EC5-CB49-4FFE-A22C-9E6CB2B78A7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992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34652-2B5D-DE89-05D0-D378FE30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82861-EE26-C220-FED5-BECB5780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52D2D-7079-6EE8-D5B9-1BFBB2B4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4A21F-A02A-44CC-B344-468E1C59932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4869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91196D0-AFBB-6A8C-F2FF-736FF15C971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AC22E68-D195-9008-8689-1E28B6B636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2E63-1FC6-5406-99A0-697599F7D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06140-0722-3BAA-CD18-A7B39A839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B168-8BC6-BEAB-4B78-605B9F112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D00D5C0-2BFA-434C-A227-6D9DA3F9B573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1" r:id="rId2"/>
    <p:sldLayoutId id="2147483820" r:id="rId3"/>
    <p:sldLayoutId id="2147483819" r:id="rId4"/>
    <p:sldLayoutId id="2147483818" r:id="rId5"/>
    <p:sldLayoutId id="2147483817" r:id="rId6"/>
    <p:sldLayoutId id="2147483816" r:id="rId7"/>
    <p:sldLayoutId id="2147483815" r:id="rId8"/>
    <p:sldLayoutId id="2147483814" r:id="rId9"/>
    <p:sldLayoutId id="2147483813" r:id="rId10"/>
    <p:sldLayoutId id="214748381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8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5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7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0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8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2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3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8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3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2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1DD5DDC-3F33-9299-04CE-ABE5B19583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143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Image Segmentation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EC915748-780F-1B69-1170-4F5F1D85C9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CD3AA83-DF09-478A-9597-DB48DAC83F2D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CE70A-3AAC-1221-D44D-13E09A135E95}"/>
              </a:ext>
            </a:extLst>
          </p:cNvPr>
          <p:cNvSpPr txBox="1"/>
          <p:nvPr/>
        </p:nvSpPr>
        <p:spPr>
          <a:xfrm>
            <a:off x="1627853" y="6259810"/>
            <a:ext cx="6905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https://www.commsp.ee.ic.ac.uk/~tania/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8B29124-43EF-8DC4-9115-09E2E64E1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30C804C-E3DE-E676-9602-0A9D07899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The purpose of image segmentation is to partition an image into </a:t>
            </a:r>
            <a:r>
              <a:rPr lang="en-GB" altLang="en-US" i="1">
                <a:cs typeface="Times New Roman" panose="02020603050405020304" pitchFamily="18" charset="0"/>
              </a:rPr>
              <a:t>meaningful</a:t>
            </a:r>
            <a:r>
              <a:rPr lang="en-GB" altLang="en-US">
                <a:cs typeface="Times New Roman" panose="02020603050405020304" pitchFamily="18" charset="0"/>
              </a:rPr>
              <a:t> regions with respect to a particular application</a:t>
            </a:r>
            <a:r>
              <a:rPr lang="en-GB" altLang="en-US"/>
              <a:t> </a:t>
            </a:r>
          </a:p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The segmentation is based on measurements taken from the image and might be </a:t>
            </a:r>
            <a:r>
              <a:rPr lang="en-GB" altLang="en-US" i="1">
                <a:cs typeface="Times New Roman" panose="02020603050405020304" pitchFamily="18" charset="0"/>
              </a:rPr>
              <a:t>greylevel</a:t>
            </a:r>
            <a:r>
              <a:rPr lang="en-GB" altLang="en-US">
                <a:cs typeface="Times New Roman" panose="02020603050405020304" pitchFamily="18" charset="0"/>
              </a:rPr>
              <a:t>, </a:t>
            </a:r>
            <a:r>
              <a:rPr lang="en-GB" altLang="en-US" i="1">
                <a:cs typeface="Times New Roman" panose="02020603050405020304" pitchFamily="18" charset="0"/>
              </a:rPr>
              <a:t>colour</a:t>
            </a:r>
            <a:r>
              <a:rPr lang="en-GB" altLang="en-US">
                <a:cs typeface="Times New Roman" panose="02020603050405020304" pitchFamily="18" charset="0"/>
              </a:rPr>
              <a:t>, </a:t>
            </a:r>
            <a:r>
              <a:rPr lang="en-GB" altLang="en-US" i="1">
                <a:cs typeface="Times New Roman" panose="02020603050405020304" pitchFamily="18" charset="0"/>
              </a:rPr>
              <a:t>texture</a:t>
            </a:r>
            <a:r>
              <a:rPr lang="en-GB" altLang="en-US">
                <a:cs typeface="Times New Roman" panose="02020603050405020304" pitchFamily="18" charset="0"/>
              </a:rPr>
              <a:t>, </a:t>
            </a:r>
            <a:r>
              <a:rPr lang="en-GB" altLang="en-US" i="1">
                <a:cs typeface="Times New Roman" panose="02020603050405020304" pitchFamily="18" charset="0"/>
              </a:rPr>
              <a:t>depth</a:t>
            </a:r>
            <a:r>
              <a:rPr lang="en-GB" altLang="en-US">
                <a:cs typeface="Times New Roman" panose="02020603050405020304" pitchFamily="18" charset="0"/>
              </a:rPr>
              <a:t> or </a:t>
            </a:r>
            <a:r>
              <a:rPr lang="en-GB" altLang="en-US" i="1">
                <a:cs typeface="Times New Roman" panose="02020603050405020304" pitchFamily="18" charset="0"/>
              </a:rPr>
              <a:t>motion</a:t>
            </a:r>
            <a:r>
              <a:rPr lang="en-GB" alt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2BC46-D91F-DDDE-36EC-0C686B26F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7242F4F-A0B0-48B1-A9A6-DCCFF905B82B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93D1EEC-434C-FE3F-1890-F52968EC4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4F74226-1BDC-072D-42E8-D15DE4A444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sz="2800" dirty="0">
                <a:cs typeface="Times New Roman" pitchFamily="18" charset="0"/>
              </a:rPr>
              <a:t>Usually image segmentation is an initial and vital step in a series of processes aimed at overall image understanding</a:t>
            </a:r>
            <a:r>
              <a:rPr lang="en-GB" sz="2800" dirty="0"/>
              <a:t>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sz="2800" dirty="0"/>
              <a:t>Applications of image segmentation include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dirty="0">
                <a:cs typeface="Times New Roman" pitchFamily="18" charset="0"/>
              </a:rPr>
              <a:t>Identifying objects in a scene for object-based measurements such as size and shape</a:t>
            </a:r>
            <a:r>
              <a:rPr lang="en-GB" dirty="0"/>
              <a:t>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dirty="0">
                <a:cs typeface="Times New Roman" pitchFamily="18" charset="0"/>
              </a:rPr>
              <a:t>Identifying objects in a moving scene for </a:t>
            </a:r>
            <a:r>
              <a:rPr lang="en-GB" i="1" dirty="0">
                <a:cs typeface="Times New Roman" pitchFamily="18" charset="0"/>
              </a:rPr>
              <a:t>object-based video compression (MPEG4)</a:t>
            </a:r>
            <a:r>
              <a:rPr lang="en-GB" dirty="0"/>
              <a:t>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dirty="0">
                <a:cs typeface="Times New Roman" pitchFamily="18" charset="0"/>
              </a:rPr>
              <a:t>Identifying objects which are at different distances from a sensor using depth measurements from a laser range finder enabling path planning for a mobile robots</a:t>
            </a:r>
            <a:r>
              <a:rPr lang="en-GB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660FC-EB4B-737E-213A-762E29B5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01B894B-76BC-4607-B1C5-5C9579D7F9B9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86FB05-3447-9EEB-A8B4-4BEFBD5FD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7DC4E4E-60AC-975C-645C-73D344AED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 1</a:t>
            </a:r>
          </a:p>
          <a:p>
            <a:pPr lvl="1" eaLnBrk="1" hangingPunct="1"/>
            <a:r>
              <a:rPr lang="en-GB" altLang="en-US"/>
              <a:t>Segmentation based on greyscale</a:t>
            </a:r>
          </a:p>
          <a:p>
            <a:pPr lvl="1" eaLnBrk="1" hangingPunct="1"/>
            <a:r>
              <a:rPr lang="en-GB" altLang="en-US"/>
              <a:t>Very simple ‘model’ of greyscale leads to inaccuracies in object labelling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FB43249-9C4A-4185-F719-E6691352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1CCB2C0-982F-4C93-B56A-05881B5BDC2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8465E090-C459-6E4C-68DF-CD9A676A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126" name="Picture 4">
            <a:extLst>
              <a:ext uri="{FF2B5EF4-FFF2-40B4-BE49-F238E27FC236}">
                <a16:creationId xmlns:a16="http://schemas.microsoft.com/office/drawing/2014/main" id="{914564A2-717A-B42E-7609-1514150F8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720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7">
            <a:extLst>
              <a:ext uri="{FF2B5EF4-FFF2-40B4-BE49-F238E27FC236}">
                <a16:creationId xmlns:a16="http://schemas.microsoft.com/office/drawing/2014/main" id="{EA85D6E7-A478-43A2-1932-681BB543D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128" name="Picture 6">
            <a:extLst>
              <a:ext uri="{FF2B5EF4-FFF2-40B4-BE49-F238E27FC236}">
                <a16:creationId xmlns:a16="http://schemas.microsoft.com/office/drawing/2014/main" id="{F7D49893-AA97-00BC-89E8-6F2F4D250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5720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2E69803-3529-8BE7-9886-820017314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8BA0D7A-EAEF-867B-0052-8E8055437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772400" cy="4840287"/>
          </a:xfrm>
        </p:spPr>
        <p:txBody>
          <a:bodyPr/>
          <a:lstStyle/>
          <a:p>
            <a:pPr eaLnBrk="1" hangingPunct="1"/>
            <a:r>
              <a:rPr lang="en-GB" altLang="en-US"/>
              <a:t>Example 2</a:t>
            </a:r>
          </a:p>
          <a:p>
            <a:pPr lvl="1" eaLnBrk="1" hangingPunct="1"/>
            <a:r>
              <a:rPr lang="en-GB" altLang="en-US"/>
              <a:t>Segmentation based on texture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Enables object surfaces with varying patterns of grey to be segmented</a:t>
            </a:r>
          </a:p>
          <a:p>
            <a:pPr lvl="1" eaLnBrk="1" hangingPunct="1"/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6E6CC-A009-B35A-7C23-5B15EDED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1FBE38F-7B4D-4353-9A62-BF28372690E5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5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6E76432-3814-FAAE-D438-D512F0862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6998D33-EEBE-FCF7-E66A-7849AA5B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62207A8-64D3-4BC9-94FD-335B3E51028E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6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pic>
        <p:nvPicPr>
          <p:cNvPr id="7172" name="Picture 3" descr="C:\Documents and Settings\spannm\Desktop\General Photos\sofa.gif">
            <a:extLst>
              <a:ext uri="{FF2B5EF4-FFF2-40B4-BE49-F238E27FC236}">
                <a16:creationId xmlns:a16="http://schemas.microsoft.com/office/drawing/2014/main" id="{48BFAB7B-047D-DB4E-F4E4-785B05898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738" y="1624013"/>
            <a:ext cx="5562600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6D7CD2C-B24F-1A09-C5A5-CF8CC570B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F6722F2-A75F-9375-F905-CF4669498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 3 </a:t>
            </a:r>
          </a:p>
          <a:p>
            <a:pPr lvl="1" eaLnBrk="1" hangingPunct="1"/>
            <a:r>
              <a:rPr lang="en-GB" altLang="en-US"/>
              <a:t>Segmentation based on motion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The main difficulty of motion segmentation is that an intermediate step is required to (either implicitly or explicitly) estimate an </a:t>
            </a:r>
            <a:r>
              <a:rPr lang="en-GB" altLang="en-US" i="1">
                <a:cs typeface="Times New Roman" panose="02020603050405020304" pitchFamily="18" charset="0"/>
              </a:rPr>
              <a:t>optical flow field</a:t>
            </a:r>
            <a:r>
              <a:rPr lang="en-GB" altLang="en-US"/>
              <a:t> 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The segmentation must be based on this estimate and not, in general, the true flow</a:t>
            </a:r>
            <a:r>
              <a:rPr lang="en-GB" alt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2DD61-3B62-F4EF-3FFE-DDBD529C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FE45D8E-8B08-475D-8606-332CF11FAFC0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7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49AC183-A156-972C-39B5-AC7AB33BB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E1CA059A-4859-75CF-0AA8-B04D5405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E467B36-99D2-43A0-B7C0-B59E84DA7DB4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8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01F6E494-4283-7E7E-8AE2-9DEA39D97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C802F9CC-F429-5ED2-E834-65DA6806C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3622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7">
            <a:extLst>
              <a:ext uri="{FF2B5EF4-FFF2-40B4-BE49-F238E27FC236}">
                <a16:creationId xmlns:a16="http://schemas.microsoft.com/office/drawing/2014/main" id="{D9E25B61-E126-F8F6-3363-0F737678A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223" name="Picture 6">
            <a:extLst>
              <a:ext uri="{FF2B5EF4-FFF2-40B4-BE49-F238E27FC236}">
                <a16:creationId xmlns:a16="http://schemas.microsoft.com/office/drawing/2014/main" id="{BDA4D8DF-33EA-C243-59AF-0E06878F9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22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Rectangle 9">
            <a:extLst>
              <a:ext uri="{FF2B5EF4-FFF2-40B4-BE49-F238E27FC236}">
                <a16:creationId xmlns:a16="http://schemas.microsoft.com/office/drawing/2014/main" id="{1A1E18C2-EED0-85E9-FE8C-2E48D01A0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9225" name="Object 1024">
            <a:extLst>
              <a:ext uri="{FF2B5EF4-FFF2-40B4-BE49-F238E27FC236}">
                <a16:creationId xmlns:a16="http://schemas.microsoft.com/office/drawing/2014/main" id="{8D213429-3E01-EF15-7549-38FF258933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419600"/>
          <a:ext cx="1819275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822704" imgH="1822704" progId="Word.Picture.8">
                  <p:embed/>
                </p:oleObj>
              </mc:Choice>
              <mc:Fallback>
                <p:oleObj name="Picture" r:id="rId5" imgW="1822704" imgH="1822704" progId="Word.Picture.8">
                  <p:embed/>
                  <p:pic>
                    <p:nvPicPr>
                      <p:cNvPr id="9225" name="Object 1024">
                        <a:extLst>
                          <a:ext uri="{FF2B5EF4-FFF2-40B4-BE49-F238E27FC236}">
                            <a16:creationId xmlns:a16="http://schemas.microsoft.com/office/drawing/2014/main" id="{8D213429-3E01-EF15-7549-38FF25893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19600"/>
                        <a:ext cx="1819275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AutoShape 10">
            <a:extLst>
              <a:ext uri="{FF2B5EF4-FFF2-40B4-BE49-F238E27FC236}">
                <a16:creationId xmlns:a16="http://schemas.microsoft.com/office/drawing/2014/main" id="{93151293-1B71-7624-9879-3DD046E36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895600"/>
            <a:ext cx="685800" cy="533400"/>
          </a:xfrm>
          <a:prstGeom prst="rightArrow">
            <a:avLst>
              <a:gd name="adj1" fmla="val 50000"/>
              <a:gd name="adj2" fmla="val 3214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7" name="AutoShape 11">
            <a:extLst>
              <a:ext uri="{FF2B5EF4-FFF2-40B4-BE49-F238E27FC236}">
                <a16:creationId xmlns:a16="http://schemas.microsoft.com/office/drawing/2014/main" id="{0FF657BD-96F6-BB8F-4212-751A3F2FBE26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724400" y="4343400"/>
            <a:ext cx="990600" cy="914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6489E40-F393-6175-27E6-75B91CDC2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E79E8D7-1E50-B649-76FA-B1A5AEB211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 3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Segmentation based on depth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This example shows a range image, obtained with a laser range finder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A  segmentation based on the range (the object distance from the sensor) is useful in guiding mobile robots </a:t>
            </a:r>
          </a:p>
          <a:p>
            <a:pPr lvl="1" eaLnBrk="1" hangingPunct="1"/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71AD-07AB-9218-E3F4-CE48FAF2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25F21D3-B030-4774-AD14-0561C1AB0A52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9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4C8693F-F534-1FA6-7B71-193868523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Introduction to image segmentation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2ABADEB5-C324-45D5-BAF4-9FF5F811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601C481-E444-4B90-AC43-62AE5EF2610D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10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04FA54CF-06A3-2A49-7CD6-9058C8511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269" name="Picture 3">
            <a:extLst>
              <a:ext uri="{FF2B5EF4-FFF2-40B4-BE49-F238E27FC236}">
                <a16:creationId xmlns:a16="http://schemas.microsoft.com/office/drawing/2014/main" id="{9704E27A-7A33-F82C-BDC4-19CC8798D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Rectangle 6">
            <a:extLst>
              <a:ext uri="{FF2B5EF4-FFF2-40B4-BE49-F238E27FC236}">
                <a16:creationId xmlns:a16="http://schemas.microsoft.com/office/drawing/2014/main" id="{D82FDED1-28A0-FD16-40D4-07F27E9E9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271" name="Picture 5">
            <a:extLst>
              <a:ext uri="{FF2B5EF4-FFF2-40B4-BE49-F238E27FC236}">
                <a16:creationId xmlns:a16="http://schemas.microsoft.com/office/drawing/2014/main" id="{C0008FA4-E860-D2A4-6E4B-E40C088AB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860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Rectangle 8">
            <a:extLst>
              <a:ext uri="{FF2B5EF4-FFF2-40B4-BE49-F238E27FC236}">
                <a16:creationId xmlns:a16="http://schemas.microsoft.com/office/drawing/2014/main" id="{08C0AA6D-AB1D-6849-9289-5C1576005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273" name="Picture 7">
            <a:extLst>
              <a:ext uri="{FF2B5EF4-FFF2-40B4-BE49-F238E27FC236}">
                <a16:creationId xmlns:a16="http://schemas.microsoft.com/office/drawing/2014/main" id="{88694A0F-9964-8BFC-2088-BA1DF8AE1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196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4" name="AutoShape 9">
            <a:extLst>
              <a:ext uri="{FF2B5EF4-FFF2-40B4-BE49-F238E27FC236}">
                <a16:creationId xmlns:a16="http://schemas.microsoft.com/office/drawing/2014/main" id="{FB66D88A-024C-BBBC-9A27-60928262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819400"/>
            <a:ext cx="685800" cy="533400"/>
          </a:xfrm>
          <a:prstGeom prst="rightArrow">
            <a:avLst>
              <a:gd name="adj1" fmla="val 50000"/>
              <a:gd name="adj2" fmla="val 3214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5" name="AutoShape 10">
            <a:extLst>
              <a:ext uri="{FF2B5EF4-FFF2-40B4-BE49-F238E27FC236}">
                <a16:creationId xmlns:a16="http://schemas.microsoft.com/office/drawing/2014/main" id="{9F60C816-0632-FE12-C045-56A4E3B751ED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724400" y="4343400"/>
            <a:ext cx="1066800" cy="914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Text Box 11">
            <a:extLst>
              <a:ext uri="{FF2B5EF4-FFF2-40B4-BE49-F238E27FC236}">
                <a16:creationId xmlns:a16="http://schemas.microsoft.com/office/drawing/2014/main" id="{54D25187-2DDD-9B53-9845-0610666DF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19400"/>
            <a:ext cx="1600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Original image</a:t>
            </a:r>
          </a:p>
        </p:txBody>
      </p:sp>
      <p:sp>
        <p:nvSpPr>
          <p:cNvPr id="11277" name="Text Box 12">
            <a:extLst>
              <a:ext uri="{FF2B5EF4-FFF2-40B4-BE49-F238E27FC236}">
                <a16:creationId xmlns:a16="http://schemas.microsoft.com/office/drawing/2014/main" id="{3DDDD5BB-CFA2-038F-BC30-09FB8F76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667000"/>
            <a:ext cx="1600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Range image</a:t>
            </a:r>
          </a:p>
        </p:txBody>
      </p:sp>
      <p:sp>
        <p:nvSpPr>
          <p:cNvPr id="11278" name="Text Box 13">
            <a:extLst>
              <a:ext uri="{FF2B5EF4-FFF2-40B4-BE49-F238E27FC236}">
                <a16:creationId xmlns:a16="http://schemas.microsoft.com/office/drawing/2014/main" id="{62440ABF-20DF-E28C-4676-AEED5D077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182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Segmented 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F47C7AB-D9E2-8E6A-739C-B94F969E6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Greylevel histogram-based segmentation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167D82D-9600-B45F-FAC1-26A64CDB6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/>
              <a:t>We will look at two very simple image segmentation techniques that are based on the greylevel histogram of an image</a:t>
            </a:r>
          </a:p>
          <a:p>
            <a:pPr lvl="1" eaLnBrk="1" hangingPunct="1"/>
            <a:r>
              <a:rPr lang="en-GB" altLang="en-US"/>
              <a:t>Thresholding</a:t>
            </a:r>
          </a:p>
          <a:p>
            <a:pPr lvl="1" eaLnBrk="1" hangingPunct="1"/>
            <a:r>
              <a:rPr lang="en-GB" altLang="en-US"/>
              <a:t>Clustering</a:t>
            </a:r>
          </a:p>
          <a:p>
            <a:pPr eaLnBrk="1" hangingPunct="1"/>
            <a:r>
              <a:rPr lang="en-GB" altLang="en-US" sz="2800"/>
              <a:t>We will use a very simple object-background test image </a:t>
            </a:r>
          </a:p>
          <a:p>
            <a:pPr lvl="1" eaLnBrk="1" hangingPunct="1"/>
            <a:r>
              <a:rPr lang="en-GB" altLang="en-US"/>
              <a:t>We will consider a zero, low and high noise image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21BCE-73A0-0BB5-AC0E-B6E75A3E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76BEF3-A4C7-48E1-9DAB-C2BB35C20AF4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11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F5988E2-4D40-A9CF-E390-C6C08CCED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Greylevel histogram-based segmentation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BC80BE6-6942-85BA-837A-A9760EDA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580C6E-5DB1-4CFF-BDAC-F294F6F4FFA6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12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9CE58B5-2E37-142A-F484-D8FA6F60D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3317" name="Picture 3">
            <a:extLst>
              <a:ext uri="{FF2B5EF4-FFF2-40B4-BE49-F238E27FC236}">
                <a16:creationId xmlns:a16="http://schemas.microsoft.com/office/drawing/2014/main" id="{3A4E4F93-5274-E17B-B258-4580B3ED0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3622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Rectangle 6">
            <a:extLst>
              <a:ext uri="{FF2B5EF4-FFF2-40B4-BE49-F238E27FC236}">
                <a16:creationId xmlns:a16="http://schemas.microsoft.com/office/drawing/2014/main" id="{22AB4A07-C63C-D44E-5255-40D4BDDAC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3319" name="Picture 5">
            <a:extLst>
              <a:ext uri="{FF2B5EF4-FFF2-40B4-BE49-F238E27FC236}">
                <a16:creationId xmlns:a16="http://schemas.microsoft.com/office/drawing/2014/main" id="{D10B878A-05BF-9905-6DF4-67C4091AA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3622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Rectangle 8">
            <a:extLst>
              <a:ext uri="{FF2B5EF4-FFF2-40B4-BE49-F238E27FC236}">
                <a16:creationId xmlns:a16="http://schemas.microsoft.com/office/drawing/2014/main" id="{8E7E974B-8163-11C4-9164-615C20678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3321" name="Picture 7">
            <a:extLst>
              <a:ext uri="{FF2B5EF4-FFF2-40B4-BE49-F238E27FC236}">
                <a16:creationId xmlns:a16="http://schemas.microsoft.com/office/drawing/2014/main" id="{B864B3D3-CB0D-9E1A-5625-7A84A1048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3622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2" name="Text Box 10">
            <a:extLst>
              <a:ext uri="{FF2B5EF4-FFF2-40B4-BE49-F238E27FC236}">
                <a16:creationId xmlns:a16="http://schemas.microsoft.com/office/drawing/2014/main" id="{81F96B91-738F-7BD0-1DBD-5C204674A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2672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Noise free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A39FE0FB-96F6-89BE-D354-E51ADF67E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2672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Low noise</a:t>
            </a:r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31919B58-9426-D997-B74E-970DE9783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2672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High noise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E85F1F8-A7A8-F043-9560-D08677B30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Greylevel histogram-based segmentation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9DCE1A2-DB0E-7904-438D-FF50A9D4F0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1513" y="1951038"/>
            <a:ext cx="7772400" cy="4840287"/>
          </a:xfrm>
        </p:spPr>
        <p:txBody>
          <a:bodyPr/>
          <a:lstStyle/>
          <a:p>
            <a:pPr eaLnBrk="1" hangingPunct="1"/>
            <a:r>
              <a:rPr lang="en-GB" altLang="en-US" sz="2400"/>
              <a:t>How do we characterise low noise and high noise?</a:t>
            </a:r>
          </a:p>
          <a:p>
            <a:pPr eaLnBrk="1" hangingPunct="1"/>
            <a:r>
              <a:rPr lang="en-GB" altLang="en-US" sz="2400"/>
              <a:t>We can consider the histograms of our images</a:t>
            </a:r>
          </a:p>
          <a:p>
            <a:pPr lvl="1" eaLnBrk="1" hangingPunct="1"/>
            <a:r>
              <a:rPr lang="en-GB" altLang="en-US" sz="2400"/>
              <a:t>For the noise free image, its simply two spikes at </a:t>
            </a:r>
            <a:r>
              <a:rPr lang="en-GB" altLang="en-US" sz="2400" i="1"/>
              <a:t>i</a:t>
            </a:r>
            <a:r>
              <a:rPr lang="en-GB" altLang="en-US" sz="2400"/>
              <a:t>=100, </a:t>
            </a:r>
            <a:r>
              <a:rPr lang="en-GB" altLang="en-US" sz="2400" i="1"/>
              <a:t>i=150</a:t>
            </a:r>
          </a:p>
          <a:p>
            <a:pPr lvl="1" eaLnBrk="1" hangingPunct="1"/>
            <a:r>
              <a:rPr lang="en-GB" altLang="en-US" sz="2400"/>
              <a:t>For the low noise image, there are two clear peaks centred on</a:t>
            </a:r>
            <a:r>
              <a:rPr lang="en-GB" altLang="en-US" sz="2400" i="1"/>
              <a:t> i</a:t>
            </a:r>
            <a:r>
              <a:rPr lang="en-GB" altLang="en-US" sz="2400"/>
              <a:t>=100, </a:t>
            </a:r>
            <a:r>
              <a:rPr lang="en-GB" altLang="en-US" sz="2400" i="1"/>
              <a:t>i=150</a:t>
            </a:r>
          </a:p>
          <a:p>
            <a:pPr lvl="1" eaLnBrk="1" hangingPunct="1"/>
            <a:r>
              <a:rPr lang="en-GB" altLang="en-US" sz="2400"/>
              <a:t>For the high noise image, there is a single peak – two greylevel populations corresponding to object and background have merged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D709D-80F3-621D-80F3-0122EF9B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69285FB-EA31-4066-950A-56AE36EBA531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13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E72E002-E643-C8A3-B4F7-EE3CF2BBB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Greylevel histogram-based segmentation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D15E29D-BDA5-C9E8-E84F-F021F270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2B48F6D-DBF6-4B7B-AC59-AF6743A44CA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14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50359723-8CDB-23BE-B5E4-1F26B271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5" y="1481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5365" name="Object 1024">
            <a:extLst>
              <a:ext uri="{FF2B5EF4-FFF2-40B4-BE49-F238E27FC236}">
                <a16:creationId xmlns:a16="http://schemas.microsoft.com/office/drawing/2014/main" id="{7CEA3B64-1D38-32CE-A50A-EB15EA2A32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209800"/>
          <a:ext cx="5276850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276850" imgH="3895725" progId="MSGraph.Chart.8">
                  <p:embed followColorScheme="full"/>
                </p:oleObj>
              </mc:Choice>
              <mc:Fallback>
                <p:oleObj name="Chart" r:id="rId3" imgW="5276850" imgH="3895725" progId="MSGraph.Chart.8">
                  <p:embed followColorScheme="full"/>
                  <p:pic>
                    <p:nvPicPr>
                      <p:cNvPr id="15365" name="Object 1024">
                        <a:extLst>
                          <a:ext uri="{FF2B5EF4-FFF2-40B4-BE49-F238E27FC236}">
                            <a16:creationId xmlns:a16="http://schemas.microsoft.com/office/drawing/2014/main" id="{7CEA3B64-1D38-32CE-A50A-EB15EA2A3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09800"/>
                        <a:ext cx="5276850" cy="389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8DECF81-1A67-D261-1A1F-E73675900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Greylevel histogram-based segmentation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C18EBD3-631C-7D6D-7FC0-1EE2171672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We can define the input image </a:t>
            </a:r>
            <a:r>
              <a:rPr lang="en-GB" altLang="en-US" i="1">
                <a:cs typeface="Times New Roman" panose="02020603050405020304" pitchFamily="18" charset="0"/>
              </a:rPr>
              <a:t>signal-to-noise ratio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  <a:r>
              <a:rPr lang="en-GB" altLang="en-US">
                <a:cs typeface="Times New Roman" panose="02020603050405020304" pitchFamily="18" charset="0"/>
              </a:rPr>
              <a:t>in terms of the mean greylevel value of the object pixels and background pixels and the additive noise standard deviation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80CC2E-5CCA-8914-AF0A-077DA7B4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5010053-5839-43E9-BD21-D1E1F719BC9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15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E2BFD588-E31D-933C-B932-B97D740E0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067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6390" name="Object 1024">
            <a:extLst>
              <a:ext uri="{FF2B5EF4-FFF2-40B4-BE49-F238E27FC236}">
                <a16:creationId xmlns:a16="http://schemas.microsoft.com/office/drawing/2014/main" id="{C7D15CA0-03D3-33B1-8D54-DFB08F6B3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8200" y="3875088"/>
          <a:ext cx="190976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2080" imgH="393480" progId="Equation.3">
                  <p:embed/>
                </p:oleObj>
              </mc:Choice>
              <mc:Fallback>
                <p:oleObj name="Equation" r:id="rId3" imgW="622080" imgH="393480" progId="Equation.3">
                  <p:embed/>
                  <p:pic>
                    <p:nvPicPr>
                      <p:cNvPr id="16390" name="Object 1024">
                        <a:extLst>
                          <a:ext uri="{FF2B5EF4-FFF2-40B4-BE49-F238E27FC236}">
                            <a16:creationId xmlns:a16="http://schemas.microsoft.com/office/drawing/2014/main" id="{C7D15CA0-03D3-33B1-8D54-DFB08F6B3B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3875088"/>
                        <a:ext cx="1909763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F8B5EAF-6973-2F55-5744-1056377C4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/>
              <a:t>Greylevel histogram-based segmentation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2AF9066-A7E6-AE5E-CFE9-7B14D71896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For our test images :</a:t>
            </a:r>
          </a:p>
          <a:p>
            <a:pPr lvl="1" eaLnBrk="1" hangingPunct="1"/>
            <a:r>
              <a:rPr lang="en-GB" altLang="en-US" i="1"/>
              <a:t>S/N</a:t>
            </a:r>
            <a:r>
              <a:rPr lang="en-GB" altLang="en-US"/>
              <a:t> (noise free) = </a:t>
            </a:r>
            <a:r>
              <a:rPr lang="en-GB" altLang="en-US">
                <a:sym typeface="Symbol" panose="05050102010706020507" pitchFamily="18" charset="2"/>
              </a:rPr>
              <a:t></a:t>
            </a:r>
          </a:p>
          <a:p>
            <a:pPr lvl="1" eaLnBrk="1" hangingPunct="1"/>
            <a:r>
              <a:rPr lang="en-GB" altLang="en-US" i="1"/>
              <a:t>S/N</a:t>
            </a:r>
            <a:r>
              <a:rPr lang="en-GB" altLang="en-US"/>
              <a:t> (low noise) = 5</a:t>
            </a:r>
          </a:p>
          <a:p>
            <a:pPr lvl="1" eaLnBrk="1" hangingPunct="1"/>
            <a:r>
              <a:rPr lang="en-GB" altLang="en-US" i="1"/>
              <a:t>S/N</a:t>
            </a:r>
            <a:r>
              <a:rPr lang="en-GB" altLang="en-US"/>
              <a:t> (low noise) =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1D612-753E-826A-ED31-84193D54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983E173-B4BF-4BF6-9C41-28855AE07A0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16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8E1A99-2DE2-ACDB-63BF-F43F44F87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65C9343-2A8D-54F0-F799-A0BE024364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We can easily understand segmentation based on thresholding by looking at the histogram of the low noise object/background image</a:t>
            </a:r>
          </a:p>
          <a:p>
            <a:pPr lvl="1" eaLnBrk="1" hangingPunct="1"/>
            <a:r>
              <a:rPr lang="en-GB" altLang="en-US"/>
              <a:t>There is a clear ‘valley’ between to two peaks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BE03F-AFA7-3665-B3CE-47805371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337505F-1239-4A7F-891F-2F119AA8F577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17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62245AD-AA66-4820-ADB0-DD833B069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4860AD8-1857-7318-3314-37CA8622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5BC94BD-EE66-4CE5-B9F7-1212E3FB73C1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18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F3A10642-1F5D-37D6-0F9C-807943351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5" y="1481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9461" name="Object 3">
            <a:extLst>
              <a:ext uri="{FF2B5EF4-FFF2-40B4-BE49-F238E27FC236}">
                <a16:creationId xmlns:a16="http://schemas.microsoft.com/office/drawing/2014/main" id="{9B023FCA-6F0C-A81B-3104-5BCF1A30F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286000"/>
          <a:ext cx="5276850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276850" imgH="3895725" progId="MSGraph.Chart.8">
                  <p:embed followColorScheme="full"/>
                </p:oleObj>
              </mc:Choice>
              <mc:Fallback>
                <p:oleObj name="Chart" r:id="rId3" imgW="5276850" imgH="3895725" progId="MSGraph.Chart.8">
                  <p:embed followColorScheme="full"/>
                  <p:pic>
                    <p:nvPicPr>
                      <p:cNvPr id="19461" name="Object 3">
                        <a:extLst>
                          <a:ext uri="{FF2B5EF4-FFF2-40B4-BE49-F238E27FC236}">
                            <a16:creationId xmlns:a16="http://schemas.microsoft.com/office/drawing/2014/main" id="{9B023FCA-6F0C-A81B-3104-5BCF1A30F5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86000"/>
                        <a:ext cx="5276850" cy="389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5">
            <a:extLst>
              <a:ext uri="{FF2B5EF4-FFF2-40B4-BE49-F238E27FC236}">
                <a16:creationId xmlns:a16="http://schemas.microsoft.com/office/drawing/2014/main" id="{04C72A8C-EF5D-1FD1-1E09-2AD17664E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276600"/>
            <a:ext cx="11731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altLang="en-US" sz="1600">
                <a:cs typeface="Times New Roman" panose="02020603050405020304" pitchFamily="18" charset="0"/>
              </a:rPr>
              <a:t>Background</a:t>
            </a:r>
            <a:endParaRPr lang="en-GB" altLang="en-US" sz="1000">
              <a:cs typeface="Times New Roman" panose="02020603050405020304" pitchFamily="18" charset="0"/>
            </a:endParaRPr>
          </a:p>
          <a:p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19463" name="Rectangle 4">
            <a:extLst>
              <a:ext uri="{FF2B5EF4-FFF2-40B4-BE49-F238E27FC236}">
                <a16:creationId xmlns:a16="http://schemas.microsoft.com/office/drawing/2014/main" id="{06E82674-1A83-C9F3-76F1-C3FDFBF65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343400"/>
            <a:ext cx="914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altLang="en-US" sz="1600">
                <a:cs typeface="Times New Roman" panose="02020603050405020304" pitchFamily="18" charset="0"/>
              </a:rPr>
              <a:t>Object</a:t>
            </a:r>
            <a:endParaRPr lang="en-GB" altLang="en-US" sz="1000">
              <a:cs typeface="Times New Roman" panose="02020603050405020304" pitchFamily="18" charset="0"/>
            </a:endParaRPr>
          </a:p>
          <a:p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19464" name="Line 7">
            <a:extLst>
              <a:ext uri="{FF2B5EF4-FFF2-40B4-BE49-F238E27FC236}">
                <a16:creationId xmlns:a16="http://schemas.microsoft.com/office/drawing/2014/main" id="{78BFA9B3-0990-C35B-0A0A-0C42EE91C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9718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5" name="Text Box 8">
            <a:extLst>
              <a:ext uri="{FF2B5EF4-FFF2-40B4-BE49-F238E27FC236}">
                <a16:creationId xmlns:a16="http://schemas.microsoft.com/office/drawing/2014/main" id="{92F296EA-812E-AC6F-AF8E-8CE52AC05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i="1"/>
              <a:t>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278C269-113F-3E89-44CD-BF6F0624A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79C3A1A-57DE-521D-5AA5-BDB24397C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We can define the greylevel thresholding algorithm as follows:</a:t>
            </a:r>
          </a:p>
          <a:p>
            <a:pPr lvl="1" algn="just" eaLnBrk="1" hangingPunct="1"/>
            <a:r>
              <a:rPr lang="en-GB" altLang="en-US">
                <a:cs typeface="Times New Roman" panose="02020603050405020304" pitchFamily="18" charset="0"/>
              </a:rPr>
              <a:t>If the greylevel of pixel p &lt;=T  then pixel p is an object pixel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en-US" sz="2800">
                <a:cs typeface="Times New Roman" panose="02020603050405020304" pitchFamily="18" charset="0"/>
              </a:rPr>
              <a:t>	else</a:t>
            </a:r>
          </a:p>
          <a:p>
            <a:pPr lvl="1" algn="just" eaLnBrk="1" hangingPunct="1"/>
            <a:r>
              <a:rPr lang="en-GB" altLang="en-US" b="1">
                <a:cs typeface="Times New Roman" panose="02020603050405020304" pitchFamily="18" charset="0"/>
              </a:rPr>
              <a:t> </a:t>
            </a:r>
            <a:r>
              <a:rPr lang="en-GB" altLang="en-US">
                <a:cs typeface="Times New Roman" panose="02020603050405020304" pitchFamily="18" charset="0"/>
              </a:rPr>
              <a:t>Pixel p is a background pixel</a:t>
            </a:r>
            <a:r>
              <a:rPr lang="en-GB" alt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28DE5-05E1-089C-988C-E31454EA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88B343E-22F8-4960-8FAF-005638603F71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19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71CC7AD-7054-333A-C386-CA0D83E48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11A680E-5810-33A4-FE07-FF439C3EB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This simple threshold test begs the obvious question how do we determine the threshold ?</a:t>
            </a:r>
            <a:r>
              <a:rPr lang="en-GB" altLang="en-US"/>
              <a:t> </a:t>
            </a:r>
          </a:p>
          <a:p>
            <a:pPr eaLnBrk="1" hangingPunct="1"/>
            <a:r>
              <a:rPr lang="en-GB" altLang="en-US"/>
              <a:t>Many approaches possible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Interactive threshold</a:t>
            </a:r>
            <a:r>
              <a:rPr lang="en-GB" altLang="en-US"/>
              <a:t> 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Adaptive threshold</a:t>
            </a:r>
            <a:r>
              <a:rPr lang="en-GB" altLang="en-US"/>
              <a:t> </a:t>
            </a:r>
          </a:p>
          <a:p>
            <a:pPr lvl="1" eaLnBrk="1" hangingPunct="1"/>
            <a:r>
              <a:rPr lang="en-GB" altLang="en-US"/>
              <a:t>Minimisation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9E88E-46F8-2BF9-EA30-64C4AA65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59B6B0B-F075-4285-8B79-4F0275DEE47A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20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BF037E8-6FB4-AECD-CDCC-566F1F4CF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26D728F-0A7A-18BC-63E7-D8FCC64F89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We will consider in detail a minimisation method for determining the threshold</a:t>
            </a:r>
          </a:p>
          <a:p>
            <a:pPr lvl="1" eaLnBrk="1" hangingPunct="1"/>
            <a:r>
              <a:rPr lang="en-GB" altLang="en-US"/>
              <a:t>Minimisation of the </a:t>
            </a:r>
            <a:r>
              <a:rPr lang="en-GB" altLang="en-US" i="1"/>
              <a:t>within group variance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Robot Vision, Haralick &amp; Shapiro, volume 1, page 20</a:t>
            </a:r>
            <a:r>
              <a:rPr lang="en-GB" alt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FA91-6D26-9A0C-C7CB-0E1B660B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650EF1E-F511-4ADE-B112-512DCA501F6A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21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0FECB31-7F29-C1CA-BA7D-567EC0B09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4F4C8FE-D802-A4A8-BEC7-62135DFCB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Idealized object/background image histogram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A6B25F-F649-B092-B34A-6920F43F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089D6E9-940C-4F1F-A9DB-C0D2E7D1B11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22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DABCD01F-2114-464F-AE46-72A3A73CB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481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3558" name="Object 4">
            <a:extLst>
              <a:ext uri="{FF2B5EF4-FFF2-40B4-BE49-F238E27FC236}">
                <a16:creationId xmlns:a16="http://schemas.microsoft.com/office/drawing/2014/main" id="{0C912A7B-CF1B-FA89-33FE-9A281C99F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882900"/>
          <a:ext cx="5257800" cy="388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276850" imgH="3895725" progId="MSGraph.Chart.8">
                  <p:embed/>
                </p:oleObj>
              </mc:Choice>
              <mc:Fallback>
                <p:oleObj name="Chart" r:id="rId3" imgW="5276850" imgH="3895725" progId="MSGraph.Chart.8">
                  <p:embed/>
                  <p:pic>
                    <p:nvPicPr>
                      <p:cNvPr id="23558" name="Object 4">
                        <a:extLst>
                          <a:ext uri="{FF2B5EF4-FFF2-40B4-BE49-F238E27FC236}">
                            <a16:creationId xmlns:a16="http://schemas.microsoft.com/office/drawing/2014/main" id="{0C912A7B-CF1B-FA89-33FE-9A281C99F8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82900"/>
                        <a:ext cx="5257800" cy="388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Line 6">
            <a:extLst>
              <a:ext uri="{FF2B5EF4-FFF2-40B4-BE49-F238E27FC236}">
                <a16:creationId xmlns:a16="http://schemas.microsoft.com/office/drawing/2014/main" id="{3AADB303-821C-75C3-352F-7DBAF00EC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1242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Text Box 7">
            <a:extLst>
              <a:ext uri="{FF2B5EF4-FFF2-40B4-BE49-F238E27FC236}">
                <a16:creationId xmlns:a16="http://schemas.microsoft.com/office/drawing/2014/main" id="{E1A5D61C-E566-BD93-E481-A48FBF55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491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 i="1"/>
              <a:t>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79B3B02-3622-8F38-FFC5-CED74065E8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94C86D7-0036-B509-F0A9-D5CCECCB99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>
                <a:cs typeface="Times New Roman" panose="02020603050405020304" pitchFamily="18" charset="0"/>
              </a:rPr>
              <a:t>Any threshold  separates the histogram into 2 groups with each group having its own statistics (mean, variance)</a:t>
            </a:r>
            <a:endParaRPr lang="en-GB" altLang="en-US" sz="2800" b="1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2800">
                <a:cs typeface="Times New Roman" panose="02020603050405020304" pitchFamily="18" charset="0"/>
              </a:rPr>
              <a:t>The homogeneity of each group is measured by the </a:t>
            </a:r>
            <a:r>
              <a:rPr lang="en-GB" altLang="en-US" sz="2800" i="1">
                <a:cs typeface="Times New Roman" panose="02020603050405020304" pitchFamily="18" charset="0"/>
              </a:rPr>
              <a:t>within group variance</a:t>
            </a:r>
          </a:p>
          <a:p>
            <a:pPr algn="just" eaLnBrk="1" hangingPunct="1"/>
            <a:r>
              <a:rPr lang="en-GB" altLang="en-US" sz="2800">
                <a:cs typeface="Times New Roman" panose="02020603050405020304" pitchFamily="18" charset="0"/>
              </a:rPr>
              <a:t>The optimum threshold is that threshold which minimizes the within group variance thus maximizing the homogeneity of each group</a:t>
            </a:r>
          </a:p>
          <a:p>
            <a:pPr eaLnBrk="1" hangingPunct="1"/>
            <a:endParaRPr lang="en-GB" altLang="en-US" sz="2800" b="1"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7788F-B505-2DBD-BEDC-3B0C7B8E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3CE2614-F252-487A-9537-861D83D07FB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23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75EF349-A275-1FE6-CC25-172BF49D1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762A4D3-1FC4-F7BF-1868-6BD3EE680F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>
                <a:cs typeface="Times New Roman" panose="02020603050405020304" pitchFamily="18" charset="0"/>
              </a:rPr>
              <a:t>Let group </a:t>
            </a:r>
            <a:r>
              <a:rPr lang="en-GB" altLang="en-US" i="1">
                <a:cs typeface="Times New Roman" panose="02020603050405020304" pitchFamily="18" charset="0"/>
              </a:rPr>
              <a:t>o</a:t>
            </a:r>
            <a:r>
              <a:rPr lang="en-GB" altLang="en-US">
                <a:cs typeface="Times New Roman" panose="02020603050405020304" pitchFamily="18" charset="0"/>
              </a:rPr>
              <a:t> (object) be those pixels with greylevel &lt;=</a:t>
            </a:r>
            <a:r>
              <a:rPr lang="en-GB" altLang="en-US" i="1">
                <a:cs typeface="Times New Roman" panose="02020603050405020304" pitchFamily="18" charset="0"/>
              </a:rPr>
              <a:t>T</a:t>
            </a:r>
            <a:endParaRPr lang="en-GB" altLang="en-US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GB" altLang="en-US">
                <a:cs typeface="Times New Roman" panose="02020603050405020304" pitchFamily="18" charset="0"/>
              </a:rPr>
              <a:t>Let group </a:t>
            </a:r>
            <a:r>
              <a:rPr lang="en-GB" altLang="en-US" i="1">
                <a:cs typeface="Times New Roman" panose="02020603050405020304" pitchFamily="18" charset="0"/>
              </a:rPr>
              <a:t>b</a:t>
            </a:r>
            <a:r>
              <a:rPr lang="en-GB" altLang="en-US">
                <a:cs typeface="Times New Roman" panose="02020603050405020304" pitchFamily="18" charset="0"/>
              </a:rPr>
              <a:t> (background) be those pixels with greylevel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  <a:r>
              <a:rPr lang="en-GB" altLang="en-US">
                <a:cs typeface="Times New Roman" panose="02020603050405020304" pitchFamily="18" charset="0"/>
              </a:rPr>
              <a:t>&gt;</a:t>
            </a:r>
            <a:r>
              <a:rPr lang="en-GB" altLang="en-US" i="1">
                <a:cs typeface="Times New Roman" panose="02020603050405020304" pitchFamily="18" charset="0"/>
              </a:rPr>
              <a:t>T</a:t>
            </a:r>
          </a:p>
          <a:p>
            <a:pPr algn="just" eaLnBrk="1" hangingPunct="1"/>
            <a:r>
              <a:rPr lang="en-GB" altLang="en-US">
                <a:cs typeface="Times New Roman" panose="02020603050405020304" pitchFamily="18" charset="0"/>
              </a:rPr>
              <a:t>The prior probability of group </a:t>
            </a:r>
            <a:r>
              <a:rPr lang="en-GB" altLang="en-US" i="1">
                <a:cs typeface="Times New Roman" panose="02020603050405020304" pitchFamily="18" charset="0"/>
              </a:rPr>
              <a:t>o</a:t>
            </a:r>
            <a:r>
              <a:rPr lang="en-GB" altLang="en-US">
                <a:cs typeface="Times New Roman" panose="02020603050405020304" pitchFamily="18" charset="0"/>
              </a:rPr>
              <a:t> is</a:t>
            </a:r>
            <a:r>
              <a:rPr lang="en-GB" altLang="en-US" b="1" i="1">
                <a:cs typeface="Times New Roman" panose="02020603050405020304" pitchFamily="18" charset="0"/>
              </a:rPr>
              <a:t> </a:t>
            </a:r>
            <a:endParaRPr lang="en-GB" altLang="en-US" i="1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GB" altLang="en-US">
                <a:cs typeface="Times New Roman" panose="02020603050405020304" pitchFamily="18" charset="0"/>
              </a:rPr>
              <a:t>The prior probability of group </a:t>
            </a:r>
            <a:r>
              <a:rPr lang="en-GB" altLang="en-US" i="1">
                <a:cs typeface="Times New Roman" panose="02020603050405020304" pitchFamily="18" charset="0"/>
              </a:rPr>
              <a:t>b</a:t>
            </a:r>
            <a:r>
              <a:rPr lang="en-GB" altLang="en-US">
                <a:cs typeface="Times New Roman" panose="02020603050405020304" pitchFamily="18" charset="0"/>
              </a:rPr>
              <a:t> is</a:t>
            </a:r>
          </a:p>
          <a:p>
            <a:pPr eaLnBrk="1" hangingPunct="1"/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91BCA-02F8-0DFF-60C1-9D8D740B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FB1FA8-5F4B-4065-967B-92CD860EEB5B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24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25605" name="Object 1">
            <a:extLst>
              <a:ext uri="{FF2B5EF4-FFF2-40B4-BE49-F238E27FC236}">
                <a16:creationId xmlns:a16="http://schemas.microsoft.com/office/drawing/2014/main" id="{FA0F91C1-19F5-639C-DDD7-5726CA982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2288" y="3814763"/>
          <a:ext cx="88423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224" imgH="228501" progId="Equation.3">
                  <p:embed/>
                </p:oleObj>
              </mc:Choice>
              <mc:Fallback>
                <p:oleObj name="Equation" r:id="rId3" imgW="406224" imgH="228501" progId="Equation.3">
                  <p:embed/>
                  <p:pic>
                    <p:nvPicPr>
                      <p:cNvPr id="25605" name="Object 1">
                        <a:extLst>
                          <a:ext uri="{FF2B5EF4-FFF2-40B4-BE49-F238E27FC236}">
                            <a16:creationId xmlns:a16="http://schemas.microsoft.com/office/drawing/2014/main" id="{FA0F91C1-19F5-639C-DDD7-5726CA982D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3814763"/>
                        <a:ext cx="884237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2">
            <a:extLst>
              <a:ext uri="{FF2B5EF4-FFF2-40B4-BE49-F238E27FC236}">
                <a16:creationId xmlns:a16="http://schemas.microsoft.com/office/drawing/2014/main" id="{A9999983-2245-3661-0E5E-61CDC079A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0700" y="4362450"/>
          <a:ext cx="8842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224" imgH="228501" progId="Equation.3">
                  <p:embed/>
                </p:oleObj>
              </mc:Choice>
              <mc:Fallback>
                <p:oleObj name="Equation" r:id="rId5" imgW="406224" imgH="228501" progId="Equation.3">
                  <p:embed/>
                  <p:pic>
                    <p:nvPicPr>
                      <p:cNvPr id="25606" name="Object 2">
                        <a:extLst>
                          <a:ext uri="{FF2B5EF4-FFF2-40B4-BE49-F238E27FC236}">
                            <a16:creationId xmlns:a16="http://schemas.microsoft.com/office/drawing/2014/main" id="{A9999983-2245-3661-0E5E-61CDC079A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4362450"/>
                        <a:ext cx="8842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387ED3F-748E-BBEF-E44F-135B2D771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99DE5B5-3F55-62D5-72DB-783775E4B7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/>
              <a:t>The following expressions can easily be derived for prior probabilities of object and background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r>
              <a:rPr lang="en-GB" altLang="en-US" sz="2800"/>
              <a:t>where         is the histogram of an </a:t>
            </a:r>
            <a:r>
              <a:rPr lang="en-GB" altLang="en-US" sz="2800" i="1"/>
              <a:t>N</a:t>
            </a:r>
            <a:r>
              <a:rPr lang="en-GB" altLang="en-US" sz="2800"/>
              <a:t> pixel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B9F9173-2B3E-E471-AA5D-79A7A4D6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E0A19C7-58AB-4D2B-979D-FBFD6F0F987A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25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E6D98870-0B0A-D349-97DC-7A55B870D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095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6630" name="Object 4">
            <a:extLst>
              <a:ext uri="{FF2B5EF4-FFF2-40B4-BE49-F238E27FC236}">
                <a16:creationId xmlns:a16="http://schemas.microsoft.com/office/drawing/2014/main" id="{55E3D15D-2525-812C-BD83-D8C2FAEA6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5938" y="2784475"/>
          <a:ext cx="21272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476" imgH="406224" progId="Equation.3">
                  <p:embed/>
                </p:oleObj>
              </mc:Choice>
              <mc:Fallback>
                <p:oleObj name="Equation" r:id="rId3" imgW="977476" imgH="406224" progId="Equation.3">
                  <p:embed/>
                  <p:pic>
                    <p:nvPicPr>
                      <p:cNvPr id="26630" name="Object 4">
                        <a:extLst>
                          <a:ext uri="{FF2B5EF4-FFF2-40B4-BE49-F238E27FC236}">
                            <a16:creationId xmlns:a16="http://schemas.microsoft.com/office/drawing/2014/main" id="{55E3D15D-2525-812C-BD83-D8C2FAEA6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2784475"/>
                        <a:ext cx="212725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7">
            <a:extLst>
              <a:ext uri="{FF2B5EF4-FFF2-40B4-BE49-F238E27FC236}">
                <a16:creationId xmlns:a16="http://schemas.microsoft.com/office/drawing/2014/main" id="{06228F3F-E740-78DC-F800-D5896CC3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095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6632" name="Object 6">
            <a:extLst>
              <a:ext uri="{FF2B5EF4-FFF2-40B4-BE49-F238E27FC236}">
                <a16:creationId xmlns:a16="http://schemas.microsoft.com/office/drawing/2014/main" id="{79C7EC5C-A559-FAAB-2A45-0675C4865A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8625" y="3571875"/>
          <a:ext cx="24384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032" imgH="380835" progId="Equation.3">
                  <p:embed/>
                </p:oleObj>
              </mc:Choice>
              <mc:Fallback>
                <p:oleObj name="Equation" r:id="rId5" imgW="1079032" imgH="380835" progId="Equation.3">
                  <p:embed/>
                  <p:pic>
                    <p:nvPicPr>
                      <p:cNvPr id="26632" name="Object 6">
                        <a:extLst>
                          <a:ext uri="{FF2B5EF4-FFF2-40B4-BE49-F238E27FC236}">
                            <a16:creationId xmlns:a16="http://schemas.microsoft.com/office/drawing/2014/main" id="{79C7EC5C-A559-FAAB-2A45-0675C4865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5" y="3571875"/>
                        <a:ext cx="24384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Rectangle 9">
            <a:extLst>
              <a:ext uri="{FF2B5EF4-FFF2-40B4-BE49-F238E27FC236}">
                <a16:creationId xmlns:a16="http://schemas.microsoft.com/office/drawing/2014/main" id="{81F42F8F-20C0-C8ED-FF55-D6DB3B722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6634" name="Object 8">
            <a:extLst>
              <a:ext uri="{FF2B5EF4-FFF2-40B4-BE49-F238E27FC236}">
                <a16:creationId xmlns:a16="http://schemas.microsoft.com/office/drawing/2014/main" id="{9E031F9E-5A8D-D235-28F4-A2018219DB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4513263"/>
          <a:ext cx="23669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309" imgH="203112" progId="Equation.3">
                  <p:embed/>
                </p:oleObj>
              </mc:Choice>
              <mc:Fallback>
                <p:oleObj name="Equation" r:id="rId7" imgW="901309" imgH="203112" progId="Equation.3">
                  <p:embed/>
                  <p:pic>
                    <p:nvPicPr>
                      <p:cNvPr id="26634" name="Object 8">
                        <a:extLst>
                          <a:ext uri="{FF2B5EF4-FFF2-40B4-BE49-F238E27FC236}">
                            <a16:creationId xmlns:a16="http://schemas.microsoft.com/office/drawing/2014/main" id="{9E031F9E-5A8D-D235-28F4-A2018219DB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4513263"/>
                        <a:ext cx="23669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">
            <a:extLst>
              <a:ext uri="{FF2B5EF4-FFF2-40B4-BE49-F238E27FC236}">
                <a16:creationId xmlns:a16="http://schemas.microsoft.com/office/drawing/2014/main" id="{98C6EC76-9B26-ED60-5364-66AB011F0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5262563"/>
          <a:ext cx="7334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279" imgH="203112" progId="Equation.3">
                  <p:embed/>
                </p:oleObj>
              </mc:Choice>
              <mc:Fallback>
                <p:oleObj name="Equation" r:id="rId9" imgW="279279" imgH="203112" progId="Equation.3">
                  <p:embed/>
                  <p:pic>
                    <p:nvPicPr>
                      <p:cNvPr id="26635" name="Object 1">
                        <a:extLst>
                          <a:ext uri="{FF2B5EF4-FFF2-40B4-BE49-F238E27FC236}">
                            <a16:creationId xmlns:a16="http://schemas.microsoft.com/office/drawing/2014/main" id="{98C6EC76-9B26-ED60-5364-66AB011F0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5262563"/>
                        <a:ext cx="7334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13B31F3-7ECD-14D9-5FBD-CDB54EB3F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55CD7BA-4A19-27CE-A16D-8CA143CEF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The mean and variance  of each group are as follows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  <a:r>
              <a:rPr lang="en-GB" altLang="en-US"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4D47040-9CBC-37A5-0EA1-8BD94E6B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31262D6-ACB0-4C75-AD7C-E4E9A4C7DFC1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26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A8919D84-FEE5-AF89-88B8-324CE8D3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3095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7654" name="Object 4">
            <a:extLst>
              <a:ext uri="{FF2B5EF4-FFF2-40B4-BE49-F238E27FC236}">
                <a16:creationId xmlns:a16="http://schemas.microsoft.com/office/drawing/2014/main" id="{D4A4B5B2-F08E-DE73-9E09-2855FD209E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638" y="2787650"/>
          <a:ext cx="35052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100" imgH="381000" progId="Equation.3">
                  <p:embed/>
                </p:oleObj>
              </mc:Choice>
              <mc:Fallback>
                <p:oleObj name="Equation" r:id="rId3" imgW="1562100" imgH="381000" progId="Equation.3">
                  <p:embed/>
                  <p:pic>
                    <p:nvPicPr>
                      <p:cNvPr id="27654" name="Object 4">
                        <a:extLst>
                          <a:ext uri="{FF2B5EF4-FFF2-40B4-BE49-F238E27FC236}">
                            <a16:creationId xmlns:a16="http://schemas.microsoft.com/office/drawing/2014/main" id="{D4A4B5B2-F08E-DE73-9E09-2855FD209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2787650"/>
                        <a:ext cx="35052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7">
            <a:extLst>
              <a:ext uri="{FF2B5EF4-FFF2-40B4-BE49-F238E27FC236}">
                <a16:creationId xmlns:a16="http://schemas.microsoft.com/office/drawing/2014/main" id="{D6352584-5CAE-8E3F-F9BC-65B55FE3C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095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7656" name="Object 6">
            <a:extLst>
              <a:ext uri="{FF2B5EF4-FFF2-40B4-BE49-F238E27FC236}">
                <a16:creationId xmlns:a16="http://schemas.microsoft.com/office/drawing/2014/main" id="{C6947982-C333-108C-301E-6FC118A58E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3687763"/>
          <a:ext cx="3505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381000" progId="Equation.3">
                  <p:embed/>
                </p:oleObj>
              </mc:Choice>
              <mc:Fallback>
                <p:oleObj name="Equation" r:id="rId5" imgW="1600200" imgH="381000" progId="Equation.3">
                  <p:embed/>
                  <p:pic>
                    <p:nvPicPr>
                      <p:cNvPr id="27656" name="Object 6">
                        <a:extLst>
                          <a:ext uri="{FF2B5EF4-FFF2-40B4-BE49-F238E27FC236}">
                            <a16:creationId xmlns:a16="http://schemas.microsoft.com/office/drawing/2014/main" id="{C6947982-C333-108C-301E-6FC118A58E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3687763"/>
                        <a:ext cx="35052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9">
            <a:extLst>
              <a:ext uri="{FF2B5EF4-FFF2-40B4-BE49-F238E27FC236}">
                <a16:creationId xmlns:a16="http://schemas.microsoft.com/office/drawing/2014/main" id="{83FB8178-5EF8-45F6-D1BE-21A62ED7A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3105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7658" name="Object 8">
            <a:extLst>
              <a:ext uri="{FF2B5EF4-FFF2-40B4-BE49-F238E27FC236}">
                <a16:creationId xmlns:a16="http://schemas.microsoft.com/office/drawing/2014/main" id="{3F741C70-E3CD-15FE-E500-03EC0260F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5963" y="4649788"/>
          <a:ext cx="48006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0" imgH="368300" progId="Equation.3">
                  <p:embed/>
                </p:oleObj>
              </mc:Choice>
              <mc:Fallback>
                <p:oleObj name="Equation" r:id="rId7" imgW="2286000" imgH="368300" progId="Equation.3">
                  <p:embed/>
                  <p:pic>
                    <p:nvPicPr>
                      <p:cNvPr id="27658" name="Object 8">
                        <a:extLst>
                          <a:ext uri="{FF2B5EF4-FFF2-40B4-BE49-F238E27FC236}">
                            <a16:creationId xmlns:a16="http://schemas.microsoft.com/office/drawing/2014/main" id="{3F741C70-E3CD-15FE-E500-03EC0260F5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4649788"/>
                        <a:ext cx="48006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1">
            <a:extLst>
              <a:ext uri="{FF2B5EF4-FFF2-40B4-BE49-F238E27FC236}">
                <a16:creationId xmlns:a16="http://schemas.microsoft.com/office/drawing/2014/main" id="{420D8EB6-E9BF-3F35-6339-46F45FDFC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3105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7660" name="Object 10">
            <a:extLst>
              <a:ext uri="{FF2B5EF4-FFF2-40B4-BE49-F238E27FC236}">
                <a16:creationId xmlns:a16="http://schemas.microsoft.com/office/drawing/2014/main" id="{F9BC806A-D7B1-6824-517A-F4DD0E8294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548313"/>
          <a:ext cx="51054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00300" imgH="368300" progId="Equation.3">
                  <p:embed/>
                </p:oleObj>
              </mc:Choice>
              <mc:Fallback>
                <p:oleObj name="Equation" r:id="rId9" imgW="2400300" imgH="368300" progId="Equation.3">
                  <p:embed/>
                  <p:pic>
                    <p:nvPicPr>
                      <p:cNvPr id="27660" name="Object 10">
                        <a:extLst>
                          <a:ext uri="{FF2B5EF4-FFF2-40B4-BE49-F238E27FC236}">
                            <a16:creationId xmlns:a16="http://schemas.microsoft.com/office/drawing/2014/main" id="{F9BC806A-D7B1-6824-517A-F4DD0E829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548313"/>
                        <a:ext cx="5105400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CF38772-DD08-1AAB-870C-6A18D7972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C67484D-8BF5-E6EA-0DCA-05955BBFE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2017713"/>
            <a:ext cx="8040688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The within group variance is defined as :</a:t>
            </a:r>
          </a:p>
          <a:p>
            <a:pPr eaLnBrk="1" hangingPunct="1">
              <a:lnSpc>
                <a:spcPct val="90000"/>
              </a:lnSpc>
            </a:pPr>
            <a:endParaRPr lang="en-GB" altLang="en-US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GB" altLang="en-US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We determine the optimum </a:t>
            </a:r>
            <a:r>
              <a:rPr lang="en-GB" altLang="en-US" i="1">
                <a:cs typeface="Times New Roman" panose="02020603050405020304" pitchFamily="18" charset="0"/>
              </a:rPr>
              <a:t>T</a:t>
            </a:r>
            <a:r>
              <a:rPr lang="en-GB" altLang="en-US">
                <a:cs typeface="Times New Roman" panose="02020603050405020304" pitchFamily="18" charset="0"/>
              </a:rPr>
              <a:t>  by minimizing this expression with respect to </a:t>
            </a:r>
            <a:r>
              <a:rPr lang="en-GB" altLang="en-US" i="1">
                <a:cs typeface="Times New Roman" panose="02020603050405020304" pitchFamily="18" charset="0"/>
              </a:rPr>
              <a:t>T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Only requires 256 comparisons for and 8-bit greylevel image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B05032-8AC8-A95C-5C7D-FBBAF4CC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32F718E-CCA7-470C-993D-B0646BACCA25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27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23AC9A30-74D1-12AA-3093-9E1F58011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8678" name="Object 4">
            <a:extLst>
              <a:ext uri="{FF2B5EF4-FFF2-40B4-BE49-F238E27FC236}">
                <a16:creationId xmlns:a16="http://schemas.microsoft.com/office/drawing/2014/main" id="{14728695-58A3-5E28-E99B-A5BB35867D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0538" y="2620963"/>
          <a:ext cx="62484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36800" imgH="228600" progId="Equation.3">
                  <p:embed/>
                </p:oleObj>
              </mc:Choice>
              <mc:Fallback>
                <p:oleObj name="Equation" r:id="rId3" imgW="2336800" imgH="228600" progId="Equation.3">
                  <p:embed/>
                  <p:pic>
                    <p:nvPicPr>
                      <p:cNvPr id="28678" name="Object 4">
                        <a:extLst>
                          <a:ext uri="{FF2B5EF4-FFF2-40B4-BE49-F238E27FC236}">
                            <a16:creationId xmlns:a16="http://schemas.microsoft.com/office/drawing/2014/main" id="{14728695-58A3-5E28-E99B-A5BB35867D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2620963"/>
                        <a:ext cx="624840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26A12F1-529C-50DE-271F-738FA2F5F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9FCAD45-57C7-F850-E268-04912267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A20913-C920-460B-A2B4-BD5C1614545E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28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29700" name="Object 3">
            <a:extLst>
              <a:ext uri="{FF2B5EF4-FFF2-40B4-BE49-F238E27FC236}">
                <a16:creationId xmlns:a16="http://schemas.microsoft.com/office/drawing/2014/main" id="{A1F19C60-B72C-0DCE-54B4-85AB629EBE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019300"/>
          <a:ext cx="5943600" cy="438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276850" imgH="3895725" progId="MSGraph.Chart.8">
                  <p:embed/>
                </p:oleObj>
              </mc:Choice>
              <mc:Fallback>
                <p:oleObj name="Chart" r:id="rId3" imgW="5276850" imgH="3895725" progId="MSGraph.Chart.8">
                  <p:embed/>
                  <p:pic>
                    <p:nvPicPr>
                      <p:cNvPr id="29700" name="Object 3">
                        <a:extLst>
                          <a:ext uri="{FF2B5EF4-FFF2-40B4-BE49-F238E27FC236}">
                            <a16:creationId xmlns:a16="http://schemas.microsoft.com/office/drawing/2014/main" id="{A1F19C60-B72C-0DCE-54B4-85AB629EBE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19300"/>
                        <a:ext cx="5943600" cy="438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6">
            <a:extLst>
              <a:ext uri="{FF2B5EF4-FFF2-40B4-BE49-F238E27FC236}">
                <a16:creationId xmlns:a16="http://schemas.microsoft.com/office/drawing/2014/main" id="{71D41E49-0F28-3087-8A7A-8400CE4F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2718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9702" name="Object 5">
            <a:extLst>
              <a:ext uri="{FF2B5EF4-FFF2-40B4-BE49-F238E27FC236}">
                <a16:creationId xmlns:a16="http://schemas.microsoft.com/office/drawing/2014/main" id="{D073A666-1724-FF08-A23F-AF5BAB44C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981200"/>
          <a:ext cx="3333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300" imgH="228600" progId="Equation.3">
                  <p:embed/>
                </p:oleObj>
              </mc:Choice>
              <mc:Fallback>
                <p:oleObj name="Equation" r:id="rId5" imgW="241300" imgH="228600" progId="Equation.3">
                  <p:embed/>
                  <p:pic>
                    <p:nvPicPr>
                      <p:cNvPr id="29702" name="Object 5">
                        <a:extLst>
                          <a:ext uri="{FF2B5EF4-FFF2-40B4-BE49-F238E27FC236}">
                            <a16:creationId xmlns:a16="http://schemas.microsoft.com/office/drawing/2014/main" id="{D073A666-1724-FF08-A23F-AF5BAB44C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81200"/>
                        <a:ext cx="3333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Line 7">
            <a:extLst>
              <a:ext uri="{FF2B5EF4-FFF2-40B4-BE49-F238E27FC236}">
                <a16:creationId xmlns:a16="http://schemas.microsoft.com/office/drawing/2014/main" id="{F48F773F-AC31-80A6-74E6-DCD79F4F9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133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4A407C2-E639-D71C-7399-7DBF85FD5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EB677A4-9328-31EE-D2AC-4AFEC9BCA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We can examine the performance of this algorithm on our low and high noise image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For the low noise case, it gives an optimum threshold of </a:t>
            </a:r>
            <a:r>
              <a:rPr lang="en-GB" altLang="en-US" i="1"/>
              <a:t>T</a:t>
            </a:r>
            <a:r>
              <a:rPr lang="en-GB" altLang="en-US"/>
              <a:t>=124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Almost exactly halfway between the object and background peaks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We can apply this optimum threshold to both the low and high noise images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F5FA3-63F1-4DF2-214F-8CE714E9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5325F9-B35C-44C8-96C8-7FC9A0DA0C24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29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3F8D2DF-BE31-6294-05E9-9A4BDEE71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291418CE-1B9D-2972-0EC4-E4D40AC2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82866E2-595D-4FE0-A2AB-2EE52DE99A3F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30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47A424EC-1C63-EE06-506E-DECA9AB79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1749" name="Picture 3">
            <a:extLst>
              <a:ext uri="{FF2B5EF4-FFF2-40B4-BE49-F238E27FC236}">
                <a16:creationId xmlns:a16="http://schemas.microsoft.com/office/drawing/2014/main" id="{E39C347F-3240-5E56-4F06-95486CD2A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6">
            <a:extLst>
              <a:ext uri="{FF2B5EF4-FFF2-40B4-BE49-F238E27FC236}">
                <a16:creationId xmlns:a16="http://schemas.microsoft.com/office/drawing/2014/main" id="{4507537F-6509-ACF2-DB2F-587DF4013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1751" name="Picture 5">
            <a:extLst>
              <a:ext uri="{FF2B5EF4-FFF2-40B4-BE49-F238E27FC236}">
                <a16:creationId xmlns:a16="http://schemas.microsoft.com/office/drawing/2014/main" id="{2EB19E40-FACD-1EAD-39E4-51C5FA871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Text Box 7">
            <a:extLst>
              <a:ext uri="{FF2B5EF4-FFF2-40B4-BE49-F238E27FC236}">
                <a16:creationId xmlns:a16="http://schemas.microsoft.com/office/drawing/2014/main" id="{27DAEAF7-0B3A-3836-E813-8BE172754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1148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Low noise image</a:t>
            </a:r>
          </a:p>
        </p:txBody>
      </p:sp>
      <p:sp>
        <p:nvSpPr>
          <p:cNvPr id="31753" name="Text Box 8">
            <a:extLst>
              <a:ext uri="{FF2B5EF4-FFF2-40B4-BE49-F238E27FC236}">
                <a16:creationId xmlns:a16="http://schemas.microsoft.com/office/drawing/2014/main" id="{16C0201C-187E-D0EB-F1CB-1B7E5C527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1148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Thresholded at </a:t>
            </a:r>
            <a:r>
              <a:rPr lang="en-GB" altLang="en-US" i="1"/>
              <a:t>T</a:t>
            </a:r>
            <a:r>
              <a:rPr lang="en-GB" altLang="en-US"/>
              <a:t>=124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5870514-A777-0996-2CBE-151279CEF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209E212-3E04-6D13-1FCA-7610A8BC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07A737E-23E4-4783-AE6A-32CEF1DBE170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31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D0B252DE-7FF0-F2E2-2281-7F953F98E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2773" name="Picture 3">
            <a:extLst>
              <a:ext uri="{FF2B5EF4-FFF2-40B4-BE49-F238E27FC236}">
                <a16:creationId xmlns:a16="http://schemas.microsoft.com/office/drawing/2014/main" id="{AFFF0827-BEDD-7B25-6132-0CA47FAF5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4384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Rectangle 6">
            <a:extLst>
              <a:ext uri="{FF2B5EF4-FFF2-40B4-BE49-F238E27FC236}">
                <a16:creationId xmlns:a16="http://schemas.microsoft.com/office/drawing/2014/main" id="{195CA049-25D6-B4AD-3B78-076D9B565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2775" name="Picture 5">
            <a:extLst>
              <a:ext uri="{FF2B5EF4-FFF2-40B4-BE49-F238E27FC236}">
                <a16:creationId xmlns:a16="http://schemas.microsoft.com/office/drawing/2014/main" id="{B92DC105-301C-53F8-8E80-042E0D4D2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38400"/>
            <a:ext cx="1704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 Box 7">
            <a:extLst>
              <a:ext uri="{FF2B5EF4-FFF2-40B4-BE49-F238E27FC236}">
                <a16:creationId xmlns:a16="http://schemas.microsoft.com/office/drawing/2014/main" id="{A2F26E1E-5C23-24F7-69AD-F7448113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4196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Low noise image</a:t>
            </a:r>
          </a:p>
        </p:txBody>
      </p:sp>
      <p:sp>
        <p:nvSpPr>
          <p:cNvPr id="32777" name="Text Box 8">
            <a:extLst>
              <a:ext uri="{FF2B5EF4-FFF2-40B4-BE49-F238E27FC236}">
                <a16:creationId xmlns:a16="http://schemas.microsoft.com/office/drawing/2014/main" id="{57421EA6-C862-0DBB-DA56-E581D3D6A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196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Thresholded at </a:t>
            </a:r>
            <a:r>
              <a:rPr lang="en-GB" altLang="en-US" i="1"/>
              <a:t>T</a:t>
            </a:r>
            <a:r>
              <a:rPr lang="en-GB" altLang="en-US"/>
              <a:t>=124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3E31838-AF1A-0F4D-81AB-3B75FC299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7B9539B-D728-EBAA-37F9-9005D74C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High level of pixel miss-classification noticeable</a:t>
            </a:r>
          </a:p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This is typical performance for thresholding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The extent of pixel miss-classification is determined by the overlap between object and background histograms. </a:t>
            </a:r>
            <a:endParaRPr lang="en-GB" altLang="en-US" b="1"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2CCBF-FCC0-A3DA-14B2-CF59E14E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2EEC566-5853-47AA-8495-9194BDB56EA4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32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E1D27AA-F18B-E3E3-724C-0BE92A80E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C3B79B3-794A-68F5-F7F9-374287DB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AE49546-009E-478D-A29C-83D8286E0AF7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33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A3BE799E-D0F5-0E21-D0A4-D25D72489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481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4821" name="Object 3">
            <a:extLst>
              <a:ext uri="{FF2B5EF4-FFF2-40B4-BE49-F238E27FC236}">
                <a16:creationId xmlns:a16="http://schemas.microsoft.com/office/drawing/2014/main" id="{E0762D18-D54E-1CAB-BBDD-76C28A54D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074863"/>
          <a:ext cx="5562600" cy="410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743450" imgH="3505200" progId="MSGraph.Chart.8">
                  <p:embed/>
                </p:oleObj>
              </mc:Choice>
              <mc:Fallback>
                <p:oleObj name="Chart" r:id="rId3" imgW="4743450" imgH="3505200" progId="MSGraph.Chart.8">
                  <p:embed/>
                  <p:pic>
                    <p:nvPicPr>
                      <p:cNvPr id="34821" name="Object 3">
                        <a:extLst>
                          <a:ext uri="{FF2B5EF4-FFF2-40B4-BE49-F238E27FC236}">
                            <a16:creationId xmlns:a16="http://schemas.microsoft.com/office/drawing/2014/main" id="{E0762D18-D54E-1CAB-BBDD-76C28A54D6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74863"/>
                        <a:ext cx="5562600" cy="410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>
            <a:extLst>
              <a:ext uri="{FF2B5EF4-FFF2-40B4-BE49-F238E27FC236}">
                <a16:creationId xmlns:a16="http://schemas.microsoft.com/office/drawing/2014/main" id="{62F09193-F562-5DD7-E396-E4BF2C974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4823" name="Object 5">
            <a:extLst>
              <a:ext uri="{FF2B5EF4-FFF2-40B4-BE49-F238E27FC236}">
                <a16:creationId xmlns:a16="http://schemas.microsoft.com/office/drawing/2014/main" id="{64F7404F-D1F8-6CAB-8790-E86008389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5715000"/>
          <a:ext cx="2286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17" imgH="203112" progId="Equation.3">
                  <p:embed/>
                </p:oleObj>
              </mc:Choice>
              <mc:Fallback>
                <p:oleObj name="Equation" r:id="rId5" imgW="190417" imgH="203112" progId="Equation.3">
                  <p:embed/>
                  <p:pic>
                    <p:nvPicPr>
                      <p:cNvPr id="34823" name="Object 5">
                        <a:extLst>
                          <a:ext uri="{FF2B5EF4-FFF2-40B4-BE49-F238E27FC236}">
                            <a16:creationId xmlns:a16="http://schemas.microsoft.com/office/drawing/2014/main" id="{64F7404F-D1F8-6CAB-8790-E86008389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715000"/>
                        <a:ext cx="2286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Rectangle 8">
            <a:extLst>
              <a:ext uri="{FF2B5EF4-FFF2-40B4-BE49-F238E27FC236}">
                <a16:creationId xmlns:a16="http://schemas.microsoft.com/office/drawing/2014/main" id="{5F8FF956-D5B1-8B66-0D8A-4741F03C4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4825" name="Object 7">
            <a:extLst>
              <a:ext uri="{FF2B5EF4-FFF2-40B4-BE49-F238E27FC236}">
                <a16:creationId xmlns:a16="http://schemas.microsoft.com/office/drawing/2014/main" id="{78AD1D0F-1B51-CAA0-0C80-1AEDA12C5F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715000"/>
          <a:ext cx="2286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17" imgH="203112" progId="Equation.3">
                  <p:embed/>
                </p:oleObj>
              </mc:Choice>
              <mc:Fallback>
                <p:oleObj name="Equation" r:id="rId7" imgW="190417" imgH="203112" progId="Equation.3">
                  <p:embed/>
                  <p:pic>
                    <p:nvPicPr>
                      <p:cNvPr id="34825" name="Object 7">
                        <a:extLst>
                          <a:ext uri="{FF2B5EF4-FFF2-40B4-BE49-F238E27FC236}">
                            <a16:creationId xmlns:a16="http://schemas.microsoft.com/office/drawing/2014/main" id="{78AD1D0F-1B51-CAA0-0C80-1AEDA12C5F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715000"/>
                        <a:ext cx="2286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Line 9">
            <a:extLst>
              <a:ext uri="{FF2B5EF4-FFF2-40B4-BE49-F238E27FC236}">
                <a16:creationId xmlns:a16="http://schemas.microsoft.com/office/drawing/2014/main" id="{1214E84A-6B62-D066-CA9B-EC22C85EE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0574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7" name="Rectangle 11">
            <a:extLst>
              <a:ext uri="{FF2B5EF4-FFF2-40B4-BE49-F238E27FC236}">
                <a16:creationId xmlns:a16="http://schemas.microsoft.com/office/drawing/2014/main" id="{421B7ACE-EAEF-C575-02A9-F8D3CC167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275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4828" name="Object 10">
            <a:extLst>
              <a:ext uri="{FF2B5EF4-FFF2-40B4-BE49-F238E27FC236}">
                <a16:creationId xmlns:a16="http://schemas.microsoft.com/office/drawing/2014/main" id="{D2C21A93-B825-CA2E-3B6B-D9A59EBD9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6172200"/>
          <a:ext cx="24288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39" imgH="152334" progId="Equation.3">
                  <p:embed/>
                </p:oleObj>
              </mc:Choice>
              <mc:Fallback>
                <p:oleObj name="Equation" r:id="rId9" imgW="139639" imgH="152334" progId="Equation.3">
                  <p:embed/>
                  <p:pic>
                    <p:nvPicPr>
                      <p:cNvPr id="34828" name="Object 10">
                        <a:extLst>
                          <a:ext uri="{FF2B5EF4-FFF2-40B4-BE49-F238E27FC236}">
                            <a16:creationId xmlns:a16="http://schemas.microsoft.com/office/drawing/2014/main" id="{D2C21A93-B825-CA2E-3B6B-D9A59EBD9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6172200"/>
                        <a:ext cx="24288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Rectangle 12">
            <a:extLst>
              <a:ext uri="{FF2B5EF4-FFF2-40B4-BE49-F238E27FC236}">
                <a16:creationId xmlns:a16="http://schemas.microsoft.com/office/drawing/2014/main" id="{F3201773-FE74-5446-AAF2-A3359854B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343400"/>
            <a:ext cx="8096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600"/>
              <a:t>Object</a:t>
            </a:r>
          </a:p>
        </p:txBody>
      </p:sp>
      <p:sp>
        <p:nvSpPr>
          <p:cNvPr id="34830" name="Rectangle 13">
            <a:extLst>
              <a:ext uri="{FF2B5EF4-FFF2-40B4-BE49-F238E27FC236}">
                <a16:creationId xmlns:a16="http://schemas.microsoft.com/office/drawing/2014/main" id="{C1875217-F273-D886-CF80-A4BD3AC26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505200"/>
            <a:ext cx="1143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600"/>
              <a:t>Background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05DF9E5-5346-6E07-29D2-F0825FADF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9BD7D157-AAD3-6002-4ACB-806B8691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A24F97B-2384-486E-9E92-57034A4547F8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34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342BC661-7D35-E3CC-8DE1-4024B2A1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1666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5845" name="Object 3">
            <a:extLst>
              <a:ext uri="{FF2B5EF4-FFF2-40B4-BE49-F238E27FC236}">
                <a16:creationId xmlns:a16="http://schemas.microsoft.com/office/drawing/2014/main" id="{04F4C5BD-C427-EDAD-BC8B-52254C5FA4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363788"/>
          <a:ext cx="5181600" cy="382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772025" imgH="3524250" progId="MSGraph.Chart.8">
                  <p:embed/>
                </p:oleObj>
              </mc:Choice>
              <mc:Fallback>
                <p:oleObj name="Chart" r:id="rId3" imgW="4772025" imgH="3524250" progId="MSGraph.Chart.8">
                  <p:embed/>
                  <p:pic>
                    <p:nvPicPr>
                      <p:cNvPr id="35845" name="Object 3">
                        <a:extLst>
                          <a:ext uri="{FF2B5EF4-FFF2-40B4-BE49-F238E27FC236}">
                            <a16:creationId xmlns:a16="http://schemas.microsoft.com/office/drawing/2014/main" id="{04F4C5BD-C427-EDAD-BC8B-52254C5FA4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363788"/>
                        <a:ext cx="5181600" cy="382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5">
            <a:extLst>
              <a:ext uri="{FF2B5EF4-FFF2-40B4-BE49-F238E27FC236}">
                <a16:creationId xmlns:a16="http://schemas.microsoft.com/office/drawing/2014/main" id="{C1D3D6E1-86D6-7F51-5AC8-C926BFEF6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715000"/>
          <a:ext cx="2286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17" imgH="203112" progId="Equation.3">
                  <p:embed/>
                </p:oleObj>
              </mc:Choice>
              <mc:Fallback>
                <p:oleObj name="Equation" r:id="rId5" imgW="190417" imgH="203112" progId="Equation.3">
                  <p:embed/>
                  <p:pic>
                    <p:nvPicPr>
                      <p:cNvPr id="35846" name="Object 5">
                        <a:extLst>
                          <a:ext uri="{FF2B5EF4-FFF2-40B4-BE49-F238E27FC236}">
                            <a16:creationId xmlns:a16="http://schemas.microsoft.com/office/drawing/2014/main" id="{C1D3D6E1-86D6-7F51-5AC8-C926BFEF6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715000"/>
                        <a:ext cx="2286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Rectangle 6">
            <a:extLst>
              <a:ext uri="{FF2B5EF4-FFF2-40B4-BE49-F238E27FC236}">
                <a16:creationId xmlns:a16="http://schemas.microsoft.com/office/drawing/2014/main" id="{A2166AC2-2DB7-262A-669C-1BF0BC73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0"/>
            <a:ext cx="8096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600"/>
              <a:t>Object</a:t>
            </a:r>
          </a:p>
        </p:txBody>
      </p:sp>
      <p:sp>
        <p:nvSpPr>
          <p:cNvPr id="35848" name="Line 7">
            <a:extLst>
              <a:ext uri="{FF2B5EF4-FFF2-40B4-BE49-F238E27FC236}">
                <a16:creationId xmlns:a16="http://schemas.microsoft.com/office/drawing/2014/main" id="{9F54AD90-F47D-CC54-8EC7-D7F33B46DC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9812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9" name="Rectangle 8">
            <a:extLst>
              <a:ext uri="{FF2B5EF4-FFF2-40B4-BE49-F238E27FC236}">
                <a16:creationId xmlns:a16="http://schemas.microsoft.com/office/drawing/2014/main" id="{5C783D6D-9BD6-5E7C-32F2-1584BDB9A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038600"/>
            <a:ext cx="1143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600"/>
              <a:t>Background</a:t>
            </a:r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E1B6C86E-198A-0A88-4C38-0576DD14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5851" name="Object 9">
            <a:extLst>
              <a:ext uri="{FF2B5EF4-FFF2-40B4-BE49-F238E27FC236}">
                <a16:creationId xmlns:a16="http://schemas.microsoft.com/office/drawing/2014/main" id="{319BCC5C-B5A0-EC4F-549E-37A592FA8E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715000"/>
          <a:ext cx="2286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17" imgH="203112" progId="Equation.3">
                  <p:embed/>
                </p:oleObj>
              </mc:Choice>
              <mc:Fallback>
                <p:oleObj name="Equation" r:id="rId7" imgW="190417" imgH="203112" progId="Equation.3">
                  <p:embed/>
                  <p:pic>
                    <p:nvPicPr>
                      <p:cNvPr id="35851" name="Object 9">
                        <a:extLst>
                          <a:ext uri="{FF2B5EF4-FFF2-40B4-BE49-F238E27FC236}">
                            <a16:creationId xmlns:a16="http://schemas.microsoft.com/office/drawing/2014/main" id="{319BCC5C-B5A0-EC4F-549E-37A592FA8E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715000"/>
                        <a:ext cx="2286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1">
            <a:extLst>
              <a:ext uri="{FF2B5EF4-FFF2-40B4-BE49-F238E27FC236}">
                <a16:creationId xmlns:a16="http://schemas.microsoft.com/office/drawing/2014/main" id="{7C11C54B-5B93-C663-5112-60E3968AF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6096000"/>
          <a:ext cx="24288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39" imgH="152334" progId="Equation.3">
                  <p:embed/>
                </p:oleObj>
              </mc:Choice>
              <mc:Fallback>
                <p:oleObj name="Equation" r:id="rId9" imgW="139639" imgH="152334" progId="Equation.3">
                  <p:embed/>
                  <p:pic>
                    <p:nvPicPr>
                      <p:cNvPr id="35852" name="Object 11">
                        <a:extLst>
                          <a:ext uri="{FF2B5EF4-FFF2-40B4-BE49-F238E27FC236}">
                            <a16:creationId xmlns:a16="http://schemas.microsoft.com/office/drawing/2014/main" id="{7C11C54B-5B93-C663-5112-60E3968AF3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096000"/>
                        <a:ext cx="24288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CAAF23B-AD26-1DEE-6B38-4B353D835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thresholding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D55C6A6-7288-2D88-F64C-AA16FEADF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4850" y="1717675"/>
            <a:ext cx="7772400" cy="45354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Easy to see that, in both cases, for any value of the threshold, object pixels will be miss-classified as background and vice versa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For greater histogram overlap, the pixel miss-classification is obviously greater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We could even quantify the probability of error in terms of the mean and standard deviations of the object and background histograms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8F399-C91A-B196-179C-AA4F7238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2525A36-E75D-4928-9ACC-E9D0AEAD69D5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35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DBF3836-9062-F50D-0778-E8227CE53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C20B165-4304-9215-208C-B809931AE3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905000"/>
            <a:ext cx="7772400" cy="4114800"/>
          </a:xfrm>
        </p:spPr>
        <p:txBody>
          <a:bodyPr/>
          <a:lstStyle/>
          <a:p>
            <a:pPr eaLnBrk="1" hangingPunct="1"/>
            <a:r>
              <a:rPr lang="en-GB" altLang="en-US"/>
              <a:t>Consider an idealized object/background histogram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9E2302F-4179-E9B2-47CA-70EA3807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4CFA4C2-5693-4420-A15B-D338270198AE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36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0F59E2B8-6F15-6DF1-0C33-5778BD6EA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481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7894" name="Object 4">
            <a:extLst>
              <a:ext uri="{FF2B5EF4-FFF2-40B4-BE49-F238E27FC236}">
                <a16:creationId xmlns:a16="http://schemas.microsoft.com/office/drawing/2014/main" id="{3263B764-687E-4DB9-F06C-69F60FF2E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962275"/>
          <a:ext cx="5276850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276850" imgH="3895725" progId="MSGraph.Chart.8">
                  <p:embed/>
                </p:oleObj>
              </mc:Choice>
              <mc:Fallback>
                <p:oleObj name="Chart" r:id="rId3" imgW="5276850" imgH="3895725" progId="MSGraph.Chart.8">
                  <p:embed/>
                  <p:pic>
                    <p:nvPicPr>
                      <p:cNvPr id="37894" name="Object 4">
                        <a:extLst>
                          <a:ext uri="{FF2B5EF4-FFF2-40B4-BE49-F238E27FC236}">
                            <a16:creationId xmlns:a16="http://schemas.microsoft.com/office/drawing/2014/main" id="{3263B764-687E-4DB9-F06C-69F60FF2E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962275"/>
                        <a:ext cx="5276850" cy="389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Rectangle 6">
            <a:extLst>
              <a:ext uri="{FF2B5EF4-FFF2-40B4-BE49-F238E27FC236}">
                <a16:creationId xmlns:a16="http://schemas.microsoft.com/office/drawing/2014/main" id="{F48D903A-D437-D2C5-49E7-11F0A8171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86200"/>
            <a:ext cx="11731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400"/>
              <a:t>Background</a:t>
            </a: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3AABD13C-7D99-A786-010F-4012D389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334000"/>
            <a:ext cx="11731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400"/>
              <a:t>Object</a:t>
            </a:r>
          </a:p>
        </p:txBody>
      </p:sp>
      <p:sp>
        <p:nvSpPr>
          <p:cNvPr id="37897" name="Rectangle 9">
            <a:extLst>
              <a:ext uri="{FF2B5EF4-FFF2-40B4-BE49-F238E27FC236}">
                <a16:creationId xmlns:a16="http://schemas.microsoft.com/office/drawing/2014/main" id="{AF34510D-D79F-3CCD-DFB5-492D88CE8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7898" name="Object 8">
            <a:extLst>
              <a:ext uri="{FF2B5EF4-FFF2-40B4-BE49-F238E27FC236}">
                <a16:creationId xmlns:a16="http://schemas.microsoft.com/office/drawing/2014/main" id="{B175336F-1834-CD68-3F39-7C10AB3E92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6581775"/>
          <a:ext cx="2000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39" imgH="203112" progId="Equation.3">
                  <p:embed/>
                </p:oleObj>
              </mc:Choice>
              <mc:Fallback>
                <p:oleObj name="Equation" r:id="rId5" imgW="139639" imgH="203112" progId="Equation.3">
                  <p:embed/>
                  <p:pic>
                    <p:nvPicPr>
                      <p:cNvPr id="37898" name="Object 8">
                        <a:extLst>
                          <a:ext uri="{FF2B5EF4-FFF2-40B4-BE49-F238E27FC236}">
                            <a16:creationId xmlns:a16="http://schemas.microsoft.com/office/drawing/2014/main" id="{B175336F-1834-CD68-3F39-7C10AB3E92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581775"/>
                        <a:ext cx="20002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Rectangle 11">
            <a:extLst>
              <a:ext uri="{FF2B5EF4-FFF2-40B4-BE49-F238E27FC236}">
                <a16:creationId xmlns:a16="http://schemas.microsoft.com/office/drawing/2014/main" id="{9A6D7FB2-55E4-825D-17E6-8C970C93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7900" name="Object 10">
            <a:extLst>
              <a:ext uri="{FF2B5EF4-FFF2-40B4-BE49-F238E27FC236}">
                <a16:creationId xmlns:a16="http://schemas.microsoft.com/office/drawing/2014/main" id="{ABDDDFD1-18E5-41FA-E763-A455A2EE2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6581775"/>
          <a:ext cx="2095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203024" progId="Equation.3">
                  <p:embed/>
                </p:oleObj>
              </mc:Choice>
              <mc:Fallback>
                <p:oleObj name="Equation" r:id="rId7" imgW="152268" imgH="203024" progId="Equation.3">
                  <p:embed/>
                  <p:pic>
                    <p:nvPicPr>
                      <p:cNvPr id="37900" name="Object 10">
                        <a:extLst>
                          <a:ext uri="{FF2B5EF4-FFF2-40B4-BE49-F238E27FC236}">
                            <a16:creationId xmlns:a16="http://schemas.microsoft.com/office/drawing/2014/main" id="{ABDDDFD1-18E5-41FA-E763-A455A2EE2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6581775"/>
                        <a:ext cx="2095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4CCDFF9-9C42-4C6C-0B34-B9E2AD736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01E5608-4E76-98FF-F7C6-4E9A227526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Clustering tries to separate the histogram into 2 groups</a:t>
            </a:r>
          </a:p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Defined by two cluster centres  </a:t>
            </a:r>
            <a:r>
              <a:rPr lang="en-GB" altLang="en-US" i="1">
                <a:cs typeface="Times New Roman" panose="02020603050405020304" pitchFamily="18" charset="0"/>
              </a:rPr>
              <a:t>c</a:t>
            </a:r>
            <a:r>
              <a:rPr lang="en-GB" altLang="en-US" i="1" baseline="-25000">
                <a:cs typeface="Times New Roman" panose="02020603050405020304" pitchFamily="18" charset="0"/>
              </a:rPr>
              <a:t>1</a:t>
            </a:r>
            <a:r>
              <a:rPr lang="en-GB" altLang="en-US">
                <a:cs typeface="Times New Roman" panose="02020603050405020304" pitchFamily="18" charset="0"/>
              </a:rPr>
              <a:t>  and </a:t>
            </a:r>
            <a:r>
              <a:rPr lang="en-GB" altLang="en-US" i="1">
                <a:cs typeface="Times New Roman" panose="02020603050405020304" pitchFamily="18" charset="0"/>
              </a:rPr>
              <a:t>c</a:t>
            </a:r>
            <a:r>
              <a:rPr lang="en-GB" altLang="en-US" i="1" baseline="-25000">
                <a:cs typeface="Times New Roman" panose="02020603050405020304" pitchFamily="18" charset="0"/>
              </a:rPr>
              <a:t>2</a:t>
            </a:r>
            <a:endParaRPr lang="en-GB" altLang="en-US" i="1">
              <a:cs typeface="Times New Roman" panose="02020603050405020304" pitchFamily="18" charset="0"/>
            </a:endParaRP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Greylevels classified according to the nearest cluster centre</a:t>
            </a:r>
            <a:r>
              <a:rPr lang="en-GB" alt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43740-B908-73C2-286A-165CFB4D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8A5579D-F6D6-4810-B048-FE3EFA460A9E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37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CE6E54F-1AAE-FB86-A3F5-50570406D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BEEC756-3A00-D1EA-A7D8-F0A7CB302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 </a:t>
            </a:r>
            <a:r>
              <a:rPr lang="en-GB" altLang="en-US" i="1"/>
              <a:t>nearest neighbour</a:t>
            </a:r>
            <a:r>
              <a:rPr lang="en-GB" altLang="en-US"/>
              <a:t> clustering algorithm allows us perform a greylevel segmentation using clustering</a:t>
            </a:r>
          </a:p>
          <a:p>
            <a:pPr lvl="1" eaLnBrk="1" hangingPunct="1"/>
            <a:r>
              <a:rPr lang="en-GB" altLang="en-US"/>
              <a:t>A simple case of a more general and widely used </a:t>
            </a:r>
            <a:r>
              <a:rPr lang="en-GB" altLang="en-US" i="1"/>
              <a:t>K-means</a:t>
            </a:r>
            <a:r>
              <a:rPr lang="en-GB" altLang="en-US"/>
              <a:t> clustering </a:t>
            </a:r>
          </a:p>
          <a:p>
            <a:pPr lvl="1" eaLnBrk="1" hangingPunct="1"/>
            <a:r>
              <a:rPr lang="en-GB" altLang="en-US"/>
              <a:t>A simple iterative algorithm which has known convergence properties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1A24C-B7B3-6B12-AD6A-6E111AD4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843655-651F-4D08-9767-0FEEED7DA038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38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3BCF418-8C0E-C44F-BDE4-607471961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89355A04-AFC9-56AC-89C6-F298C22C9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89088"/>
            <a:ext cx="8229600" cy="4525962"/>
          </a:xfrm>
        </p:spPr>
        <p:txBody>
          <a:bodyPr/>
          <a:lstStyle/>
          <a:p>
            <a:pPr eaLnBrk="1" hangingPunct="1"/>
            <a:r>
              <a:rPr lang="en-GB" altLang="en-US"/>
              <a:t>Given a set of greylevels</a:t>
            </a:r>
          </a:p>
          <a:p>
            <a:pPr eaLnBrk="1" hangingPunct="1"/>
            <a:endParaRPr lang="en-GB" altLang="en-US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We can partition this set into two groups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0BEA167-E6F3-4A99-BFC3-CD9B11EE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09B0EEC-1557-4405-8017-28AF9C3457F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39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B00498DF-4E5F-A950-6CAA-416C33BEF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0966" name="Object 4">
            <a:extLst>
              <a:ext uri="{FF2B5EF4-FFF2-40B4-BE49-F238E27FC236}">
                <a16:creationId xmlns:a16="http://schemas.microsoft.com/office/drawing/2014/main" id="{DF55F13F-FFD0-D1B4-3AE0-16D3DF03F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5738" y="2173288"/>
          <a:ext cx="27701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449" imgH="215806" progId="Equation.3">
                  <p:embed/>
                </p:oleObj>
              </mc:Choice>
              <mc:Fallback>
                <p:oleObj name="Equation" r:id="rId3" imgW="1269449" imgH="215806" progId="Equation.3">
                  <p:embed/>
                  <p:pic>
                    <p:nvPicPr>
                      <p:cNvPr id="40966" name="Object 4">
                        <a:extLst>
                          <a:ext uri="{FF2B5EF4-FFF2-40B4-BE49-F238E27FC236}">
                            <a16:creationId xmlns:a16="http://schemas.microsoft.com/office/drawing/2014/main" id="{DF55F13F-FFD0-D1B4-3AE0-16D3DF03F9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2173288"/>
                        <a:ext cx="27701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>
            <a:extLst>
              <a:ext uri="{FF2B5EF4-FFF2-40B4-BE49-F238E27FC236}">
                <a16:creationId xmlns:a16="http://schemas.microsoft.com/office/drawing/2014/main" id="{54DB7507-99FA-4005-DD7E-3ABACA356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0968" name="Object 6">
            <a:extLst>
              <a:ext uri="{FF2B5EF4-FFF2-40B4-BE49-F238E27FC236}">
                <a16:creationId xmlns:a16="http://schemas.microsoft.com/office/drawing/2014/main" id="{12984D04-4D4B-1822-CE0A-3740B733C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5425" y="3614738"/>
          <a:ext cx="30083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477" imgH="215806" progId="Equation.3">
                  <p:embed/>
                </p:oleObj>
              </mc:Choice>
              <mc:Fallback>
                <p:oleObj name="Equation" r:id="rId5" imgW="1434477" imgH="215806" progId="Equation.3">
                  <p:embed/>
                  <p:pic>
                    <p:nvPicPr>
                      <p:cNvPr id="40968" name="Object 6">
                        <a:extLst>
                          <a:ext uri="{FF2B5EF4-FFF2-40B4-BE49-F238E27FC236}">
                            <a16:creationId xmlns:a16="http://schemas.microsoft.com/office/drawing/2014/main" id="{12984D04-4D4B-1822-CE0A-3740B733C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3614738"/>
                        <a:ext cx="30083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Rectangle 9">
            <a:extLst>
              <a:ext uri="{FF2B5EF4-FFF2-40B4-BE49-F238E27FC236}">
                <a16:creationId xmlns:a16="http://schemas.microsoft.com/office/drawing/2014/main" id="{E65F51BA-B0E7-85AB-9C7C-1DD788AF8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0970" name="Object 8">
            <a:extLst>
              <a:ext uri="{FF2B5EF4-FFF2-40B4-BE49-F238E27FC236}">
                <a16:creationId xmlns:a16="http://schemas.microsoft.com/office/drawing/2014/main" id="{98BACCF7-493D-46A6-8FE6-F4F6F1AB7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9075" y="4387850"/>
          <a:ext cx="31575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7950" imgH="215806" progId="Equation.3">
                  <p:embed/>
                </p:oleObj>
              </mc:Choice>
              <mc:Fallback>
                <p:oleObj name="Equation" r:id="rId7" imgW="1497950" imgH="215806" progId="Equation.3">
                  <p:embed/>
                  <p:pic>
                    <p:nvPicPr>
                      <p:cNvPr id="40970" name="Object 8">
                        <a:extLst>
                          <a:ext uri="{FF2B5EF4-FFF2-40B4-BE49-F238E27FC236}">
                            <a16:creationId xmlns:a16="http://schemas.microsoft.com/office/drawing/2014/main" id="{98BACCF7-493D-46A6-8FE6-F4F6F1AB74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4387850"/>
                        <a:ext cx="31575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727DC77-8C5A-A586-C261-E632B4970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A80D8F1-FE84-3E7B-4EF5-C7DC32275A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Compute the local means of each group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4B3F0CD-D144-C60C-DD71-0101E878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352AFDD-A890-43BB-88FE-EEFA06ECEE41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40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1B4496CF-ECC7-15F8-AADF-7FE667741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3052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1990" name="Object 4">
            <a:extLst>
              <a:ext uri="{FF2B5EF4-FFF2-40B4-BE49-F238E27FC236}">
                <a16:creationId xmlns:a16="http://schemas.microsoft.com/office/drawing/2014/main" id="{D1A929A2-C0E9-6965-B9DB-D0E55589D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732088"/>
          <a:ext cx="25146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6000" imgH="431800" progId="Equation.3">
                  <p:embed/>
                </p:oleObj>
              </mc:Choice>
              <mc:Fallback>
                <p:oleObj name="Equation" r:id="rId3" imgW="1016000" imgH="431800" progId="Equation.3">
                  <p:embed/>
                  <p:pic>
                    <p:nvPicPr>
                      <p:cNvPr id="41990" name="Object 4">
                        <a:extLst>
                          <a:ext uri="{FF2B5EF4-FFF2-40B4-BE49-F238E27FC236}">
                            <a16:creationId xmlns:a16="http://schemas.microsoft.com/office/drawing/2014/main" id="{D1A929A2-C0E9-6965-B9DB-D0E55589D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732088"/>
                        <a:ext cx="2514600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>
            <a:extLst>
              <a:ext uri="{FF2B5EF4-FFF2-40B4-BE49-F238E27FC236}">
                <a16:creationId xmlns:a16="http://schemas.microsoft.com/office/drawing/2014/main" id="{73FB8393-7073-830D-EF62-F1C34D346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1992" name="Object 6">
            <a:extLst>
              <a:ext uri="{FF2B5EF4-FFF2-40B4-BE49-F238E27FC236}">
                <a16:creationId xmlns:a16="http://schemas.microsoft.com/office/drawing/2014/main" id="{223440D2-D7F8-14FD-ABB7-A4AF32B98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886200"/>
          <a:ext cx="2362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457200" progId="Equation.3">
                  <p:embed/>
                </p:oleObj>
              </mc:Choice>
              <mc:Fallback>
                <p:oleObj name="Equation" r:id="rId5" imgW="1054100" imgH="457200" progId="Equation.3">
                  <p:embed/>
                  <p:pic>
                    <p:nvPicPr>
                      <p:cNvPr id="41992" name="Object 6">
                        <a:extLst>
                          <a:ext uri="{FF2B5EF4-FFF2-40B4-BE49-F238E27FC236}">
                            <a16:creationId xmlns:a16="http://schemas.microsoft.com/office/drawing/2014/main" id="{223440D2-D7F8-14FD-ABB7-A4AF32B98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886200"/>
                        <a:ext cx="2362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E21EC02-4327-19A8-165C-A5280FA33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4AFE925-C375-3226-3638-CF95329257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/>
              <a:t>Re-define the new groupings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r>
              <a:rPr lang="en-GB" altLang="en-US" sz="2800">
                <a:cs typeface="Times New Roman" panose="02020603050405020304" pitchFamily="18" charset="0"/>
              </a:rPr>
              <a:t>In other words all grey levels in set 1 are nearer to cluster centre </a:t>
            </a:r>
            <a:r>
              <a:rPr lang="en-GB" altLang="en-US" sz="2800" i="1">
                <a:cs typeface="Times New Roman" panose="02020603050405020304" pitchFamily="18" charset="0"/>
              </a:rPr>
              <a:t>  </a:t>
            </a:r>
            <a:r>
              <a:rPr lang="en-GB" altLang="en-US" sz="2800">
                <a:cs typeface="Times New Roman" panose="02020603050405020304" pitchFamily="18" charset="0"/>
              </a:rPr>
              <a:t>   and all grey levels in set 2 are nearer to cluster centre</a:t>
            </a:r>
            <a:r>
              <a:rPr lang="en-GB" altLang="en-US" sz="2800" b="1">
                <a:cs typeface="Times New Roman" panose="02020603050405020304" pitchFamily="18" charset="0"/>
              </a:rPr>
              <a:t> </a:t>
            </a: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  <a:p>
            <a:pPr eaLnBrk="1" hangingPunct="1">
              <a:lnSpc>
                <a:spcPct val="90000"/>
              </a:lnSpc>
            </a:pPr>
            <a:endParaRPr lang="en-GB" altLang="en-US" sz="2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529506E-093A-67AD-9EE1-21DE3418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A8C8E6B-0162-49F5-B5F4-CC4A8A5FB859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41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6B06AA9F-BEE2-D2F5-599A-0EFD94EAB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325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3014" name="Object 4">
            <a:extLst>
              <a:ext uri="{FF2B5EF4-FFF2-40B4-BE49-F238E27FC236}">
                <a16:creationId xmlns:a16="http://schemas.microsoft.com/office/drawing/2014/main" id="{C8842169-6071-8D7A-9845-69B9A8886D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5625" y="2468563"/>
          <a:ext cx="54927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200" imgH="254000" progId="Equation.3">
                  <p:embed/>
                </p:oleObj>
              </mc:Choice>
              <mc:Fallback>
                <p:oleObj name="Equation" r:id="rId3" imgW="2108200" imgH="254000" progId="Equation.3">
                  <p:embed/>
                  <p:pic>
                    <p:nvPicPr>
                      <p:cNvPr id="43014" name="Object 4">
                        <a:extLst>
                          <a:ext uri="{FF2B5EF4-FFF2-40B4-BE49-F238E27FC236}">
                            <a16:creationId xmlns:a16="http://schemas.microsoft.com/office/drawing/2014/main" id="{C8842169-6071-8D7A-9845-69B9A8886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2468563"/>
                        <a:ext cx="54927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7">
            <a:extLst>
              <a:ext uri="{FF2B5EF4-FFF2-40B4-BE49-F238E27FC236}">
                <a16:creationId xmlns:a16="http://schemas.microsoft.com/office/drawing/2014/main" id="{03A0B5DA-2EC6-2A21-D631-1E200700E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25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3016" name="Object 6">
            <a:extLst>
              <a:ext uri="{FF2B5EF4-FFF2-40B4-BE49-F238E27FC236}">
                <a16:creationId xmlns:a16="http://schemas.microsoft.com/office/drawing/2014/main" id="{4EB68282-6DA5-15CB-3DD3-6851CC23FA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3371850"/>
          <a:ext cx="55308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9000" imgH="254000" progId="Equation.3">
                  <p:embed/>
                </p:oleObj>
              </mc:Choice>
              <mc:Fallback>
                <p:oleObj name="Equation" r:id="rId5" imgW="2159000" imgH="254000" progId="Equation.3">
                  <p:embed/>
                  <p:pic>
                    <p:nvPicPr>
                      <p:cNvPr id="43016" name="Object 6">
                        <a:extLst>
                          <a:ext uri="{FF2B5EF4-FFF2-40B4-BE49-F238E27FC236}">
                            <a16:creationId xmlns:a16="http://schemas.microsoft.com/office/drawing/2014/main" id="{4EB68282-6DA5-15CB-3DD3-6851CC23F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3371850"/>
                        <a:ext cx="55308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1">
            <a:extLst>
              <a:ext uri="{FF2B5EF4-FFF2-40B4-BE49-F238E27FC236}">
                <a16:creationId xmlns:a16="http://schemas.microsoft.com/office/drawing/2014/main" id="{DCB59B21-4FCF-D3D5-6DA8-2C544B347D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3700" y="4740275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215713" progId="Equation.3">
                  <p:embed/>
                </p:oleObj>
              </mc:Choice>
              <mc:Fallback>
                <p:oleObj name="Equation" r:id="rId7" imgW="139579" imgH="215713" progId="Equation.3">
                  <p:embed/>
                  <p:pic>
                    <p:nvPicPr>
                      <p:cNvPr id="43017" name="Object 1">
                        <a:extLst>
                          <a:ext uri="{FF2B5EF4-FFF2-40B4-BE49-F238E27FC236}">
                            <a16:creationId xmlns:a16="http://schemas.microsoft.com/office/drawing/2014/main" id="{DCB59B21-4FCF-D3D5-6DA8-2C544B347D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4740275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2">
            <a:extLst>
              <a:ext uri="{FF2B5EF4-FFF2-40B4-BE49-F238E27FC236}">
                <a16:creationId xmlns:a16="http://schemas.microsoft.com/office/drawing/2014/main" id="{9D01DCCA-E7B6-CBBA-874E-5E2CDC7225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8475" y="5124450"/>
          <a:ext cx="4302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5" imgH="215619" progId="Equation.3">
                  <p:embed/>
                </p:oleObj>
              </mc:Choice>
              <mc:Fallback>
                <p:oleObj name="Equation" r:id="rId9" imgW="164885" imgH="215619" progId="Equation.3">
                  <p:embed/>
                  <p:pic>
                    <p:nvPicPr>
                      <p:cNvPr id="43018" name="Object 2">
                        <a:extLst>
                          <a:ext uri="{FF2B5EF4-FFF2-40B4-BE49-F238E27FC236}">
                            <a16:creationId xmlns:a16="http://schemas.microsoft.com/office/drawing/2014/main" id="{9D01DCCA-E7B6-CBBA-874E-5E2CDC722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75" y="5124450"/>
                        <a:ext cx="4302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B0B1AAB-0921-7DE9-10D8-F2BE07A4A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9EF77BE-A1A3-24BE-161D-A9F5FE965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But, we have a </a:t>
            </a:r>
            <a:r>
              <a:rPr lang="en-GB" altLang="en-US" i="1"/>
              <a:t>chicken and egg</a:t>
            </a:r>
            <a:r>
              <a:rPr lang="en-GB" altLang="en-US"/>
              <a:t> situation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The problem with the above definition is that each group mean is defined in terms of the partitions  and vice versa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en-GB" altLang="en-US">
                <a:cs typeface="Times New Roman" panose="02020603050405020304" pitchFamily="18" charset="0"/>
              </a:rPr>
              <a:t>The solution is to define an iterative algorithm and worry about the convergence of the algorithm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  <a:r>
              <a:rPr lang="en-GB" altLang="en-US">
                <a:cs typeface="Times New Roman" panose="02020603050405020304" pitchFamily="18" charset="0"/>
              </a:rPr>
              <a:t>later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4532F-EA19-0AF7-F175-4903B0C7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E0A15D7-AAD2-4E5F-849E-51A7B2B564AC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42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9978697-8C10-D8DF-43DF-76EB6B01F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1A2ED7B-C42F-B698-EA40-DA9568870A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iterative algorithm is as follows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9865916-CA98-4DC0-94A6-A83E9150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6D1D5C4-AD70-4B70-A27B-EC9B29937A23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43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5061" name="Rectangle 8">
            <a:extLst>
              <a:ext uri="{FF2B5EF4-FFF2-40B4-BE49-F238E27FC236}">
                <a16:creationId xmlns:a16="http://schemas.microsoft.com/office/drawing/2014/main" id="{89491D5A-F6C7-6B50-4A57-84461E69E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2489200"/>
            <a:ext cx="845820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Initialize the label of each pixel randomly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Repeat</a:t>
            </a:r>
          </a:p>
          <a:p>
            <a:pPr>
              <a:lnSpc>
                <a:spcPct val="50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	</a:t>
            </a:r>
            <a:r>
              <a:rPr lang="en-GB" altLang="en-US" sz="2000" i="1">
                <a:cs typeface="Times New Roman" panose="02020603050405020304" pitchFamily="18" charset="0"/>
              </a:rPr>
              <a:t>   </a:t>
            </a:r>
            <a:r>
              <a:rPr lang="en-GB" altLang="en-US" sz="2000">
                <a:cs typeface="Times New Roman" panose="02020603050405020304" pitchFamily="18" charset="0"/>
              </a:rPr>
              <a:t>= mean of pixels assigned to object label</a:t>
            </a:r>
          </a:p>
          <a:p>
            <a:pPr>
              <a:lnSpc>
                <a:spcPct val="50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	</a:t>
            </a:r>
            <a:r>
              <a:rPr lang="en-GB" altLang="en-US" sz="2000" i="1">
                <a:cs typeface="Times New Roman" panose="02020603050405020304" pitchFamily="18" charset="0"/>
              </a:rPr>
              <a:t>   </a:t>
            </a:r>
            <a:r>
              <a:rPr lang="en-GB" altLang="en-US" sz="2000">
                <a:cs typeface="Times New Roman" panose="02020603050405020304" pitchFamily="18" charset="0"/>
              </a:rPr>
              <a:t>= mean of pixels assigned to background label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		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		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	Compute partition 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	Compute partition 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75000"/>
              </a:lnSpc>
            </a:pPr>
            <a:r>
              <a:rPr lang="en-GB" altLang="en-US" sz="2000">
                <a:cs typeface="Times New Roman" panose="02020603050405020304" pitchFamily="18" charset="0"/>
              </a:rPr>
              <a:t>	Until none pixel labelling changes</a:t>
            </a:r>
            <a:r>
              <a:rPr lang="en-GB" altLang="en-US" sz="2000"/>
              <a:t> </a:t>
            </a:r>
          </a:p>
        </p:txBody>
      </p:sp>
      <p:sp>
        <p:nvSpPr>
          <p:cNvPr id="45062" name="Rectangle 10">
            <a:extLst>
              <a:ext uri="{FF2B5EF4-FFF2-40B4-BE49-F238E27FC236}">
                <a16:creationId xmlns:a16="http://schemas.microsoft.com/office/drawing/2014/main" id="{63B9084A-82D9-6D24-56D0-054DD306F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5063" name="Object 9">
            <a:extLst>
              <a:ext uri="{FF2B5EF4-FFF2-40B4-BE49-F238E27FC236}">
                <a16:creationId xmlns:a16="http://schemas.microsoft.com/office/drawing/2014/main" id="{252B8206-DAE8-7F62-2907-8C8E028698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567238"/>
          <a:ext cx="2373312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3699" imgH="215806" progId="Equation.3">
                  <p:embed/>
                </p:oleObj>
              </mc:Choice>
              <mc:Fallback>
                <p:oleObj name="Equation" r:id="rId3" imgW="1383699" imgH="215806" progId="Equation.3">
                  <p:embed/>
                  <p:pic>
                    <p:nvPicPr>
                      <p:cNvPr id="45063" name="Object 9">
                        <a:extLst>
                          <a:ext uri="{FF2B5EF4-FFF2-40B4-BE49-F238E27FC236}">
                            <a16:creationId xmlns:a16="http://schemas.microsoft.com/office/drawing/2014/main" id="{252B8206-DAE8-7F62-2907-8C8E028698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567238"/>
                        <a:ext cx="2373312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Rectangle 12">
            <a:extLst>
              <a:ext uri="{FF2B5EF4-FFF2-40B4-BE49-F238E27FC236}">
                <a16:creationId xmlns:a16="http://schemas.microsoft.com/office/drawing/2014/main" id="{45CD0AD1-99F0-027F-FCD2-23C71149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5065" name="Object 11">
            <a:extLst>
              <a:ext uri="{FF2B5EF4-FFF2-40B4-BE49-F238E27FC236}">
                <a16:creationId xmlns:a16="http://schemas.microsoft.com/office/drawing/2014/main" id="{3FE70238-3144-664D-BDA2-85A02F52FB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041900"/>
          <a:ext cx="238601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172" imgH="215806" progId="Equation.3">
                  <p:embed/>
                </p:oleObj>
              </mc:Choice>
              <mc:Fallback>
                <p:oleObj name="Equation" r:id="rId5" imgW="1447172" imgH="215806" progId="Equation.3">
                  <p:embed/>
                  <p:pic>
                    <p:nvPicPr>
                      <p:cNvPr id="45065" name="Object 11">
                        <a:extLst>
                          <a:ext uri="{FF2B5EF4-FFF2-40B4-BE49-F238E27FC236}">
                            <a16:creationId xmlns:a16="http://schemas.microsoft.com/office/drawing/2014/main" id="{3FE70238-3144-664D-BDA2-85A02F52FB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041900"/>
                        <a:ext cx="2386013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2">
            <a:extLst>
              <a:ext uri="{FF2B5EF4-FFF2-40B4-BE49-F238E27FC236}">
                <a16:creationId xmlns:a16="http://schemas.microsoft.com/office/drawing/2014/main" id="{0DE5A673-5E0F-A7C2-6B27-FEC9973439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600" y="3486150"/>
          <a:ext cx="2397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215713" progId="Equation.3">
                  <p:embed/>
                </p:oleObj>
              </mc:Choice>
              <mc:Fallback>
                <p:oleObj name="Equation" r:id="rId7" imgW="139579" imgH="215713" progId="Equation.3">
                  <p:embed/>
                  <p:pic>
                    <p:nvPicPr>
                      <p:cNvPr id="45066" name="Object 2">
                        <a:extLst>
                          <a:ext uri="{FF2B5EF4-FFF2-40B4-BE49-F238E27FC236}">
                            <a16:creationId xmlns:a16="http://schemas.microsoft.com/office/drawing/2014/main" id="{0DE5A673-5E0F-A7C2-6B27-FEC9973439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3486150"/>
                        <a:ext cx="239713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3">
            <a:extLst>
              <a:ext uri="{FF2B5EF4-FFF2-40B4-BE49-F238E27FC236}">
                <a16:creationId xmlns:a16="http://schemas.microsoft.com/office/drawing/2014/main" id="{E6CEC7EB-4E12-CB57-583A-EBD37D4B18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9013" y="3892550"/>
          <a:ext cx="2841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5" imgH="215619" progId="Equation.3">
                  <p:embed/>
                </p:oleObj>
              </mc:Choice>
              <mc:Fallback>
                <p:oleObj name="Equation" r:id="rId9" imgW="164885" imgH="215619" progId="Equation.3">
                  <p:embed/>
                  <p:pic>
                    <p:nvPicPr>
                      <p:cNvPr id="45067" name="Object 3">
                        <a:extLst>
                          <a:ext uri="{FF2B5EF4-FFF2-40B4-BE49-F238E27FC236}">
                            <a16:creationId xmlns:a16="http://schemas.microsoft.com/office/drawing/2014/main" id="{E6CEC7EB-4E12-CB57-583A-EBD37D4B18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3892550"/>
                        <a:ext cx="284162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DF886ED-80CC-30BD-3F13-FAC6E3119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925DA05-CBD8-6560-AE1B-0F691F9C01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Two questions to answer</a:t>
            </a:r>
          </a:p>
          <a:p>
            <a:pPr lvl="1" eaLnBrk="1" hangingPunct="1"/>
            <a:r>
              <a:rPr lang="en-GB" altLang="en-US"/>
              <a:t>Does this algorithm converge?</a:t>
            </a:r>
          </a:p>
          <a:p>
            <a:pPr lvl="1" eaLnBrk="1" hangingPunct="1"/>
            <a:r>
              <a:rPr lang="en-GB" altLang="en-US"/>
              <a:t>If so, to what does it converge?</a:t>
            </a:r>
          </a:p>
          <a:p>
            <a:pPr eaLnBrk="1" hangingPunct="1"/>
            <a:r>
              <a:rPr lang="en-GB" altLang="en-US"/>
              <a:t>We can show that the algorithm is guaranteed to converge and also that it converges to a sensible result</a:t>
            </a:r>
          </a:p>
          <a:p>
            <a:pPr eaLnBrk="1" hangingPunct="1"/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C74A0-5D40-1E09-684D-00565BEE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FA83E88-18B7-47C3-A358-865837F3B11C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44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39FFF5D-FCAA-1CD4-7BA1-0309AD0EE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7BBB198-36EC-C99A-BBAB-42E2CF66D4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Outline proof of algorithm convergence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Define a ‘cost function’ at iteration </a:t>
            </a:r>
            <a:r>
              <a:rPr lang="en-GB" i="1" dirty="0"/>
              <a:t>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i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i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i="1" dirty="0"/>
          </a:p>
          <a:p>
            <a:pPr marL="457200" lvl="1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GB" i="1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1BB4F8D-FA05-66F0-39C3-8170A052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D42E92C-B960-49C4-8725-CD2E20EAA57C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45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5DD9B9F6-E7E8-3CC2-E481-D0B2EA6B2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3048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7110" name="Object 4">
            <a:extLst>
              <a:ext uri="{FF2B5EF4-FFF2-40B4-BE49-F238E27FC236}">
                <a16:creationId xmlns:a16="http://schemas.microsoft.com/office/drawing/2014/main" id="{BD0037AE-FF9E-E109-388E-84A819FCD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6513" y="3082925"/>
          <a:ext cx="73294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25800" imgH="444500" progId="Equation.3">
                  <p:embed/>
                </p:oleObj>
              </mc:Choice>
              <mc:Fallback>
                <p:oleObj name="Equation" r:id="rId3" imgW="3225800" imgH="444500" progId="Equation.3">
                  <p:embed/>
                  <p:pic>
                    <p:nvPicPr>
                      <p:cNvPr id="47110" name="Object 4">
                        <a:extLst>
                          <a:ext uri="{FF2B5EF4-FFF2-40B4-BE49-F238E27FC236}">
                            <a16:creationId xmlns:a16="http://schemas.microsoft.com/office/drawing/2014/main" id="{BD0037AE-FF9E-E109-388E-84A819FCD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3082925"/>
                        <a:ext cx="7329487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1">
            <a:extLst>
              <a:ext uri="{FF2B5EF4-FFF2-40B4-BE49-F238E27FC236}">
                <a16:creationId xmlns:a16="http://schemas.microsoft.com/office/drawing/2014/main" id="{8CD0BC00-A942-E3DF-E5AD-073DA7607A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5563" y="4257675"/>
          <a:ext cx="11842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474" imgH="203112" progId="Equation.3">
                  <p:embed/>
                </p:oleObj>
              </mc:Choice>
              <mc:Fallback>
                <p:oleObj name="Equation" r:id="rId5" imgW="520474" imgH="203112" progId="Equation.3">
                  <p:embed/>
                  <p:pic>
                    <p:nvPicPr>
                      <p:cNvPr id="47111" name="Object 1">
                        <a:extLst>
                          <a:ext uri="{FF2B5EF4-FFF2-40B4-BE49-F238E27FC236}">
                            <a16:creationId xmlns:a16="http://schemas.microsoft.com/office/drawing/2014/main" id="{8CD0BC00-A942-E3DF-E5AD-073DA7607A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4257675"/>
                        <a:ext cx="11842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B42DA78-4588-73BA-B186-3F9142CF9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6542120-E5A9-8C7A-529B-EB7AC287C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Now update the cluster centres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Finally, update the cost function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BD6A8D7-CCC4-4C09-5E14-638C9472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A9C662C-5CBF-4788-97F8-68DA69AC312F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46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2442B37D-2806-37D0-7CFC-13F948351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3052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8134" name="Object 4">
            <a:extLst>
              <a:ext uri="{FF2B5EF4-FFF2-40B4-BE49-F238E27FC236}">
                <a16:creationId xmlns:a16="http://schemas.microsoft.com/office/drawing/2014/main" id="{0A1BBCE4-0948-4F51-86F6-FD80BD5AD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3963" y="2433638"/>
          <a:ext cx="26574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199" imgH="444307" progId="Equation.3">
                  <p:embed/>
                </p:oleObj>
              </mc:Choice>
              <mc:Fallback>
                <p:oleObj name="Equation" r:id="rId3" imgW="1155199" imgH="444307" progId="Equation.3">
                  <p:embed/>
                  <p:pic>
                    <p:nvPicPr>
                      <p:cNvPr id="48134" name="Object 4">
                        <a:extLst>
                          <a:ext uri="{FF2B5EF4-FFF2-40B4-BE49-F238E27FC236}">
                            <a16:creationId xmlns:a16="http://schemas.microsoft.com/office/drawing/2014/main" id="{0A1BBCE4-0948-4F51-86F6-FD80BD5AD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433638"/>
                        <a:ext cx="2657475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7">
            <a:extLst>
              <a:ext uri="{FF2B5EF4-FFF2-40B4-BE49-F238E27FC236}">
                <a16:creationId xmlns:a16="http://schemas.microsoft.com/office/drawing/2014/main" id="{47045240-E1CB-E027-3D59-DAB4F73E1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6" name="Rectangle 9">
            <a:extLst>
              <a:ext uri="{FF2B5EF4-FFF2-40B4-BE49-F238E27FC236}">
                <a16:creationId xmlns:a16="http://schemas.microsoft.com/office/drawing/2014/main" id="{C67D89B5-948C-A11F-4805-27F5C3CDA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3048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8137" name="Object 8">
            <a:extLst>
              <a:ext uri="{FF2B5EF4-FFF2-40B4-BE49-F238E27FC236}">
                <a16:creationId xmlns:a16="http://schemas.microsoft.com/office/drawing/2014/main" id="{21AEC643-B6A4-6AA4-56BF-858CE00A8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2588" y="5105400"/>
          <a:ext cx="68595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60700" imgH="444500" progId="Equation.3">
                  <p:embed/>
                </p:oleObj>
              </mc:Choice>
              <mc:Fallback>
                <p:oleObj name="Equation" r:id="rId5" imgW="3060700" imgH="444500" progId="Equation.3">
                  <p:embed/>
                  <p:pic>
                    <p:nvPicPr>
                      <p:cNvPr id="48137" name="Object 8">
                        <a:extLst>
                          <a:ext uri="{FF2B5EF4-FFF2-40B4-BE49-F238E27FC236}">
                            <a16:creationId xmlns:a16="http://schemas.microsoft.com/office/drawing/2014/main" id="{21AEC643-B6A4-6AA4-56BF-858CE00A8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5105400"/>
                        <a:ext cx="685958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8" name="Object 11">
            <a:extLst>
              <a:ext uri="{FF2B5EF4-FFF2-40B4-BE49-F238E27FC236}">
                <a16:creationId xmlns:a16="http://schemas.microsoft.com/office/drawing/2014/main" id="{DA1BB105-EABB-C070-9D64-B75DB4A778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3406775"/>
          <a:ext cx="253206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67893" imgH="444307" progId="Equation.3">
                  <p:embed/>
                </p:oleObj>
              </mc:Choice>
              <mc:Fallback>
                <p:oleObj name="Equation" r:id="rId7" imgW="1167893" imgH="444307" progId="Equation.3">
                  <p:embed/>
                  <p:pic>
                    <p:nvPicPr>
                      <p:cNvPr id="48138" name="Object 11">
                        <a:extLst>
                          <a:ext uri="{FF2B5EF4-FFF2-40B4-BE49-F238E27FC236}">
                            <a16:creationId xmlns:a16="http://schemas.microsoft.com/office/drawing/2014/main" id="{DA1BB105-EABB-C070-9D64-B75DB4A778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406775"/>
                        <a:ext cx="2532062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B5532D7-ACF3-D1AF-1198-DFF908FFC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CE3EEC3-2FFB-6A05-F161-CFED466FCA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Easy to show that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Since                 , we conclude that the algorithm must converge</a:t>
            </a:r>
          </a:p>
          <a:p>
            <a:pPr lvl="1" eaLnBrk="1" hangingPunct="1"/>
            <a:r>
              <a:rPr lang="en-GB" altLang="en-US" i="1"/>
              <a:t>but</a:t>
            </a:r>
          </a:p>
          <a:p>
            <a:pPr eaLnBrk="1" hangingPunct="1"/>
            <a:r>
              <a:rPr lang="en-GB" altLang="en-US"/>
              <a:t>What does the algorithm converge to?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29229F-5E20-6E36-F5E1-69965A1A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3791842-2281-45FA-857C-8D51FA04F24E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47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6E511A1D-BD41-9496-019F-519777E1C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9158" name="Object 4">
            <a:extLst>
              <a:ext uri="{FF2B5EF4-FFF2-40B4-BE49-F238E27FC236}">
                <a16:creationId xmlns:a16="http://schemas.microsoft.com/office/drawing/2014/main" id="{C688A0BA-8AB0-0815-E95D-5165E4A77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4450" y="2522538"/>
          <a:ext cx="35036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228600" progId="Equation.3">
                  <p:embed/>
                </p:oleObj>
              </mc:Choice>
              <mc:Fallback>
                <p:oleObj name="Equation" r:id="rId3" imgW="1143000" imgH="228600" progId="Equation.3">
                  <p:embed/>
                  <p:pic>
                    <p:nvPicPr>
                      <p:cNvPr id="49158" name="Object 4">
                        <a:extLst>
                          <a:ext uri="{FF2B5EF4-FFF2-40B4-BE49-F238E27FC236}">
                            <a16:creationId xmlns:a16="http://schemas.microsoft.com/office/drawing/2014/main" id="{C688A0BA-8AB0-0815-E95D-5165E4A770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2522538"/>
                        <a:ext cx="35036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1">
            <a:extLst>
              <a:ext uri="{FF2B5EF4-FFF2-40B4-BE49-F238E27FC236}">
                <a16:creationId xmlns:a16="http://schemas.microsoft.com/office/drawing/2014/main" id="{0836CBDE-4A46-D897-4BE8-EC5663DF74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2788" y="3295650"/>
          <a:ext cx="15970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474" imgH="203112" progId="Equation.3">
                  <p:embed/>
                </p:oleObj>
              </mc:Choice>
              <mc:Fallback>
                <p:oleObj name="Equation" r:id="rId5" imgW="520474" imgH="203112" progId="Equation.3">
                  <p:embed/>
                  <p:pic>
                    <p:nvPicPr>
                      <p:cNvPr id="49159" name="Object 1">
                        <a:extLst>
                          <a:ext uri="{FF2B5EF4-FFF2-40B4-BE49-F238E27FC236}">
                            <a16:creationId xmlns:a16="http://schemas.microsoft.com/office/drawing/2014/main" id="{0836CBDE-4A46-D897-4BE8-EC5663DF74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3295650"/>
                        <a:ext cx="15970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C8878A8-3902-FE9F-57C2-79C3FEA2F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C163E38-7AA8-F15F-CAE0-2A9574B64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i="1">
                <a:cs typeface="Times New Roman" panose="02020603050405020304" pitchFamily="18" charset="0"/>
              </a:rPr>
              <a:t>E</a:t>
            </a:r>
            <a:r>
              <a:rPr lang="en-GB" altLang="en-US" baseline="-25000">
                <a:cs typeface="Times New Roman" panose="02020603050405020304" pitchFamily="18" charset="0"/>
              </a:rPr>
              <a:t>1</a:t>
            </a:r>
            <a:r>
              <a:rPr lang="en-GB" altLang="en-US" i="1">
                <a:cs typeface="Times New Roman" panose="02020603050405020304" pitchFamily="18" charset="0"/>
              </a:rPr>
              <a:t> </a:t>
            </a:r>
            <a:r>
              <a:rPr lang="en-GB" altLang="en-US">
                <a:cs typeface="Times New Roman" panose="02020603050405020304" pitchFamily="18" charset="0"/>
              </a:rPr>
              <a:t>is simply the sum of the variances within each cluster which is minimised at convergence</a:t>
            </a:r>
          </a:p>
          <a:p>
            <a:pPr lvl="1" algn="just" eaLnBrk="1" hangingPunct="1"/>
            <a:r>
              <a:rPr lang="en-GB" altLang="en-US">
                <a:cs typeface="Times New Roman" panose="02020603050405020304" pitchFamily="18" charset="0"/>
              </a:rPr>
              <a:t>Gives sensible results for well separated clusters</a:t>
            </a:r>
          </a:p>
          <a:p>
            <a:pPr lvl="1" algn="just" eaLnBrk="1" hangingPunct="1"/>
            <a:r>
              <a:rPr lang="en-GB" altLang="en-US">
                <a:cs typeface="Times New Roman" panose="02020603050405020304" pitchFamily="18" charset="0"/>
              </a:rPr>
              <a:t>Similar performance to thresholding</a:t>
            </a:r>
          </a:p>
          <a:p>
            <a:pPr eaLnBrk="1" hangingPunct="1"/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5228F-8DEA-2E11-D5A2-C31B83F5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CC7D47E-DDA7-4F03-A92D-0409878559D1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48</a:t>
            </a:fld>
            <a:endParaRPr lang="en-GB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1166678-BD73-6A1A-8E6C-302751E96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Greylevel clustering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3FD16CC-481C-CD60-D860-DD28012A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D2F6B4E-27CA-4E9A-AB61-8C0AE9A198FA}" type="slidenum">
              <a:rPr lang="en-GB" altLang="en-US" sz="1200">
                <a:solidFill>
                  <a:srgbClr val="898989"/>
                </a:solidFill>
              </a:rPr>
              <a:pPr eaLnBrk="1" hangingPunct="1"/>
              <a:t>49</a:t>
            </a:fld>
            <a:endParaRPr lang="en-GB" altLang="en-US" sz="1200">
              <a:solidFill>
                <a:srgbClr val="898989"/>
              </a:solidFill>
            </a:endParaRP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855C8ECB-CC9F-861B-4795-0431AC8B5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3" y="1981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1205" name="Object 3">
            <a:extLst>
              <a:ext uri="{FF2B5EF4-FFF2-40B4-BE49-F238E27FC236}">
                <a16:creationId xmlns:a16="http://schemas.microsoft.com/office/drawing/2014/main" id="{449F85AE-2A15-52B8-58E9-7631303AA1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057400"/>
          <a:ext cx="5578475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52875" imgH="2895600" progId="MSGraph.Chart.8">
                  <p:embed/>
                </p:oleObj>
              </mc:Choice>
              <mc:Fallback>
                <p:oleObj name="Chart" r:id="rId3" imgW="3952875" imgH="2895600" progId="MSGraph.Chart.8">
                  <p:embed/>
                  <p:pic>
                    <p:nvPicPr>
                      <p:cNvPr id="51205" name="Object 3">
                        <a:extLst>
                          <a:ext uri="{FF2B5EF4-FFF2-40B4-BE49-F238E27FC236}">
                            <a16:creationId xmlns:a16="http://schemas.microsoft.com/office/drawing/2014/main" id="{449F85AE-2A15-52B8-58E9-7631303AA1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5578475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Rectangle 6">
            <a:extLst>
              <a:ext uri="{FF2B5EF4-FFF2-40B4-BE49-F238E27FC236}">
                <a16:creationId xmlns:a16="http://schemas.microsoft.com/office/drawing/2014/main" id="{7CD23E07-EE3D-A50E-0AC6-1808D0AA9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1207" name="Object 5">
            <a:extLst>
              <a:ext uri="{FF2B5EF4-FFF2-40B4-BE49-F238E27FC236}">
                <a16:creationId xmlns:a16="http://schemas.microsoft.com/office/drawing/2014/main" id="{EFC1DB8E-E3F6-BA17-F3BF-528EEA16D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5776913"/>
          <a:ext cx="2555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39" imgH="203112" progId="Equation.3">
                  <p:embed/>
                </p:oleObj>
              </mc:Choice>
              <mc:Fallback>
                <p:oleObj name="Equation" r:id="rId5" imgW="139639" imgH="203112" progId="Equation.3">
                  <p:embed/>
                  <p:pic>
                    <p:nvPicPr>
                      <p:cNvPr id="51207" name="Object 5">
                        <a:extLst>
                          <a:ext uri="{FF2B5EF4-FFF2-40B4-BE49-F238E27FC236}">
                            <a16:creationId xmlns:a16="http://schemas.microsoft.com/office/drawing/2014/main" id="{EFC1DB8E-E3F6-BA17-F3BF-528EEA16D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5776913"/>
                        <a:ext cx="2555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>
            <a:extLst>
              <a:ext uri="{FF2B5EF4-FFF2-40B4-BE49-F238E27FC236}">
                <a16:creationId xmlns:a16="http://schemas.microsoft.com/office/drawing/2014/main" id="{097CFE27-4EE7-B608-C835-9973D3E2E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1209" name="Object 7">
            <a:extLst>
              <a:ext uri="{FF2B5EF4-FFF2-40B4-BE49-F238E27FC236}">
                <a16:creationId xmlns:a16="http://schemas.microsoft.com/office/drawing/2014/main" id="{DDF416F2-8588-3150-7408-85C7F09D9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8788" y="5815013"/>
          <a:ext cx="2667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203024" progId="Equation.3">
                  <p:embed/>
                </p:oleObj>
              </mc:Choice>
              <mc:Fallback>
                <p:oleObj name="Equation" r:id="rId7" imgW="152268" imgH="203024" progId="Equation.3">
                  <p:embed/>
                  <p:pic>
                    <p:nvPicPr>
                      <p:cNvPr id="51209" name="Object 7">
                        <a:extLst>
                          <a:ext uri="{FF2B5EF4-FFF2-40B4-BE49-F238E27FC236}">
                            <a16:creationId xmlns:a16="http://schemas.microsoft.com/office/drawing/2014/main" id="{DDF416F2-8588-3150-7408-85C7F09D9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788" y="5815013"/>
                        <a:ext cx="2667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Rectangle 10">
            <a:extLst>
              <a:ext uri="{FF2B5EF4-FFF2-40B4-BE49-F238E27FC236}">
                <a16:creationId xmlns:a16="http://schemas.microsoft.com/office/drawing/2014/main" id="{C38F0A7C-5D7D-9587-4A70-05D60D057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1211" name="Object 9">
            <a:extLst>
              <a:ext uri="{FF2B5EF4-FFF2-40B4-BE49-F238E27FC236}">
                <a16:creationId xmlns:a16="http://schemas.microsoft.com/office/drawing/2014/main" id="{E44961F2-77A2-79F3-FF52-F94CAEC6E3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3925" y="3932238"/>
          <a:ext cx="2921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957" imgH="203024" progId="Equation.3">
                  <p:embed/>
                </p:oleObj>
              </mc:Choice>
              <mc:Fallback>
                <p:oleObj name="Equation" r:id="rId9" imgW="164957" imgH="203024" progId="Equation.3">
                  <p:embed/>
                  <p:pic>
                    <p:nvPicPr>
                      <p:cNvPr id="51211" name="Object 9">
                        <a:extLst>
                          <a:ext uri="{FF2B5EF4-FFF2-40B4-BE49-F238E27FC236}">
                            <a16:creationId xmlns:a16="http://schemas.microsoft.com/office/drawing/2014/main" id="{E44961F2-77A2-79F3-FF52-F94CAEC6E3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3932238"/>
                        <a:ext cx="2921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Rectangle 12">
            <a:extLst>
              <a:ext uri="{FF2B5EF4-FFF2-40B4-BE49-F238E27FC236}">
                <a16:creationId xmlns:a16="http://schemas.microsoft.com/office/drawing/2014/main" id="{9E3BBBB4-5E25-0B9C-2A1E-DEF26D141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175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1213" name="Object 11">
            <a:extLst>
              <a:ext uri="{FF2B5EF4-FFF2-40B4-BE49-F238E27FC236}">
                <a16:creationId xmlns:a16="http://schemas.microsoft.com/office/drawing/2014/main" id="{0864CEE6-53C8-EE89-F9EF-BD87240F1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7513" y="2433638"/>
          <a:ext cx="3159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569" imgH="202936" progId="Equation.3">
                  <p:embed/>
                </p:oleObj>
              </mc:Choice>
              <mc:Fallback>
                <p:oleObj name="Equation" r:id="rId11" imgW="177569" imgH="202936" progId="Equation.3">
                  <p:embed/>
                  <p:pic>
                    <p:nvPicPr>
                      <p:cNvPr id="51213" name="Object 11">
                        <a:extLst>
                          <a:ext uri="{FF2B5EF4-FFF2-40B4-BE49-F238E27FC236}">
                            <a16:creationId xmlns:a16="http://schemas.microsoft.com/office/drawing/2014/main" id="{0864CEE6-53C8-EE89-F9EF-BD87240F1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2433638"/>
                        <a:ext cx="3159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4" name="Line 15">
            <a:extLst>
              <a:ext uri="{FF2B5EF4-FFF2-40B4-BE49-F238E27FC236}">
                <a16:creationId xmlns:a16="http://schemas.microsoft.com/office/drawing/2014/main" id="{7E8FE1CC-18F0-FF31-AFBD-6357F0B88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0763" y="3021013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5" name="Line 31">
            <a:extLst>
              <a:ext uri="{FF2B5EF4-FFF2-40B4-BE49-F238E27FC236}">
                <a16:creationId xmlns:a16="http://schemas.microsoft.com/office/drawing/2014/main" id="{C2C91D4C-3F55-ED06-C993-5242B39D5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4338638"/>
            <a:ext cx="0" cy="17510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6" name="Line 32">
            <a:extLst>
              <a:ext uri="{FF2B5EF4-FFF2-40B4-BE49-F238E27FC236}">
                <a16:creationId xmlns:a16="http://schemas.microsoft.com/office/drawing/2014/main" id="{FD14F07A-AC6A-F9FB-B696-89E999D88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6525" y="4335463"/>
            <a:ext cx="0" cy="175101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7" name="Line 33">
            <a:extLst>
              <a:ext uri="{FF2B5EF4-FFF2-40B4-BE49-F238E27FC236}">
                <a16:creationId xmlns:a16="http://schemas.microsoft.com/office/drawing/2014/main" id="{06CFC0D4-3440-1DDB-526A-D59516A955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9300" y="4435475"/>
            <a:ext cx="6794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8" name="Line 35">
            <a:extLst>
              <a:ext uri="{FF2B5EF4-FFF2-40B4-BE49-F238E27FC236}">
                <a16:creationId xmlns:a16="http://schemas.microsoft.com/office/drawing/2014/main" id="{1FAE7854-8F6F-4D69-3C55-E4D85A438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3017838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9" name="Line 36">
            <a:extLst>
              <a:ext uri="{FF2B5EF4-FFF2-40B4-BE49-F238E27FC236}">
                <a16:creationId xmlns:a16="http://schemas.microsoft.com/office/drawing/2014/main" id="{085509DA-177E-7AFC-6DFC-7B90B5C67A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6850" y="2973388"/>
            <a:ext cx="77628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5318</TotalTime>
  <Words>1404</Words>
  <Application>Microsoft Office PowerPoint</Application>
  <PresentationFormat>On-screen Show (4:3)</PresentationFormat>
  <Paragraphs>265</Paragraphs>
  <Slides>49</Slides>
  <Notes>49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Tahoma</vt:lpstr>
      <vt:lpstr>Arial</vt:lpstr>
      <vt:lpstr>Calibri</vt:lpstr>
      <vt:lpstr>Times New Roman</vt:lpstr>
      <vt:lpstr>Symbol</vt:lpstr>
      <vt:lpstr>Wingdings</vt:lpstr>
      <vt:lpstr>Office Theme</vt:lpstr>
      <vt:lpstr>Microsoft Word Picture</vt:lpstr>
      <vt:lpstr>Microsoft Graph Chart</vt:lpstr>
      <vt:lpstr>Microsoft Equation 3.0</vt:lpstr>
      <vt:lpstr>Image Segmentation</vt:lpstr>
      <vt:lpstr>Introduction to image segmentation</vt:lpstr>
      <vt:lpstr>Introduction to image segmentation</vt:lpstr>
      <vt:lpstr>Introduction to image segmentation</vt:lpstr>
      <vt:lpstr>Introduction to image segmentation</vt:lpstr>
      <vt:lpstr>Introduction to image segmentation</vt:lpstr>
      <vt:lpstr>Introduction to image segmentation</vt:lpstr>
      <vt:lpstr>Introduction to image segmentation</vt:lpstr>
      <vt:lpstr>Introduction to image segmentation</vt:lpstr>
      <vt:lpstr>Introduction to image segmentation</vt:lpstr>
      <vt:lpstr>Greylevel histogram-based segmentation</vt:lpstr>
      <vt:lpstr>Greylevel histogram-based segmentation</vt:lpstr>
      <vt:lpstr>Greylevel histogram-based segmentation</vt:lpstr>
      <vt:lpstr>Greylevel histogram-based segmentation</vt:lpstr>
      <vt:lpstr>Greylevel histogram-based segmentation</vt:lpstr>
      <vt:lpstr>Greylevel histogram-based segmentation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thresholding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  <vt:lpstr>Greylevel clustering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Segmentation</dc:title>
  <dc:creator>Spann</dc:creator>
  <cp:lastModifiedBy>Amiruzzaman, Md</cp:lastModifiedBy>
  <cp:revision>244</cp:revision>
  <dcterms:created xsi:type="dcterms:W3CDTF">2006-12-04T11:27:20Z</dcterms:created>
  <dcterms:modified xsi:type="dcterms:W3CDTF">2025-12-25T13:54:59Z</dcterms:modified>
</cp:coreProperties>
</file>